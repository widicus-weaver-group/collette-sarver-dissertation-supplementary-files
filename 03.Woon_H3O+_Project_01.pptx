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542" r:id="rId2"/>
    <p:sldId id="797" r:id="rId3"/>
    <p:sldId id="807" r:id="rId4"/>
    <p:sldId id="854" r:id="rId5"/>
    <p:sldId id="855" r:id="rId6"/>
    <p:sldId id="856" r:id="rId7"/>
    <p:sldId id="811" r:id="rId8"/>
    <p:sldId id="857" r:id="rId9"/>
    <p:sldId id="842" r:id="rId10"/>
    <p:sldId id="858" r:id="rId11"/>
    <p:sldId id="803" r:id="rId12"/>
    <p:sldId id="860" r:id="rId13"/>
    <p:sldId id="862" r:id="rId14"/>
    <p:sldId id="863" r:id="rId15"/>
    <p:sldId id="864" r:id="rId16"/>
    <p:sldId id="859" r:id="rId17"/>
    <p:sldId id="865" r:id="rId18"/>
    <p:sldId id="866" r:id="rId19"/>
    <p:sldId id="868" r:id="rId20"/>
    <p:sldId id="867" r:id="rId21"/>
    <p:sldId id="869" r:id="rId22"/>
    <p:sldId id="870" r:id="rId23"/>
    <p:sldId id="871" r:id="rId24"/>
    <p:sldId id="872" r:id="rId25"/>
    <p:sldId id="861" r:id="rId26"/>
    <p:sldId id="873" r:id="rId27"/>
    <p:sldId id="874" r:id="rId28"/>
  </p:sldIdLst>
  <p:sldSz cx="9144000" cy="6858000" type="screen4x3"/>
  <p:notesSz cx="9296400" cy="7010400"/>
  <p:embeddedFontLst>
    <p:embeddedFont>
      <p:font typeface="ZapfHumnst BT" panose="020B0502050508020304" pitchFamily="34" charset="0"/>
      <p:regular r:id="rId31"/>
      <p:bold r:id="rId32"/>
      <p:italic r:id="rId33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ZapfHumnst BT" panose="020B05020505080203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ZapfHumnst BT" panose="020B05020505080203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ZapfHumnst BT" panose="020B05020505080203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ZapfHumnst BT" panose="020B05020505080203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ZapfHumnst BT" panose="020B0502050508020304" pitchFamily="34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ZapfHumnst BT" panose="020B0502050508020304" pitchFamily="34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ZapfHumnst BT" panose="020B0502050508020304" pitchFamily="34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ZapfHumnst BT" panose="020B0502050508020304" pitchFamily="34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ZapfHumnst BT" panose="020B05020505080203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  <a:srgbClr val="FFFF99"/>
    <a:srgbClr val="1AAD13"/>
    <a:srgbClr val="FF6600"/>
    <a:srgbClr val="00FFCC"/>
    <a:srgbClr val="BBE0E3"/>
    <a:srgbClr val="FF00FF"/>
    <a:srgbClr val="0066FF"/>
    <a:srgbClr val="0033CC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08" autoAdjust="0"/>
    <p:restoredTop sz="90950" autoAdjust="0"/>
  </p:normalViewPr>
  <p:slideViewPr>
    <p:cSldViewPr>
      <p:cViewPr varScale="1">
        <p:scale>
          <a:sx n="77" d="100"/>
          <a:sy n="77" d="100"/>
        </p:scale>
        <p:origin x="165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129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4028748" cy="35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989" tIns="46494" rIns="92989" bIns="46494" numCol="1" anchor="t" anchorCtr="0" compatLnSpc="1">
            <a:prstTxWarp prst="textNoShape">
              <a:avLst/>
            </a:prstTxWarp>
          </a:bodyPr>
          <a:lstStyle>
            <a:lvl1pPr algn="l" defTabSz="930356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7654" y="1"/>
            <a:ext cx="4028747" cy="35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989" tIns="46494" rIns="92989" bIns="46494" numCol="1" anchor="t" anchorCtr="0" compatLnSpc="1">
            <a:prstTxWarp prst="textNoShape">
              <a:avLst/>
            </a:prstTxWarp>
          </a:bodyPr>
          <a:lstStyle>
            <a:lvl1pPr algn="r" defTabSz="930356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58968"/>
            <a:ext cx="4028748" cy="351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989" tIns="46494" rIns="92989" bIns="46494" numCol="1" anchor="b" anchorCtr="0" compatLnSpc="1">
            <a:prstTxWarp prst="textNoShape">
              <a:avLst/>
            </a:prstTxWarp>
          </a:bodyPr>
          <a:lstStyle>
            <a:lvl1pPr algn="l" defTabSz="930356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7654" y="6658968"/>
            <a:ext cx="4028747" cy="351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989" tIns="46494" rIns="92989" bIns="46494" numCol="1" anchor="b" anchorCtr="0" compatLnSpc="1">
            <a:prstTxWarp prst="textNoShape">
              <a:avLst/>
            </a:prstTxWarp>
          </a:bodyPr>
          <a:lstStyle>
            <a:lvl1pPr algn="r" defTabSz="930356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CF9FFDC-4B4A-4960-AC16-B67C3DAF52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1057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4028748" cy="35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</a:bodyPr>
          <a:lstStyle>
            <a:lvl1pPr algn="l" defTabSz="931887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6115" y="1"/>
            <a:ext cx="4028748" cy="35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</a:bodyPr>
          <a:lstStyle>
            <a:lvl1pPr algn="r" defTabSz="931887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95600" y="525463"/>
            <a:ext cx="3505200" cy="2628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95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9948" y="3330245"/>
            <a:ext cx="7436505" cy="3155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95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7446"/>
            <a:ext cx="4028748" cy="35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164" tIns="46582" rIns="93164" bIns="46582" numCol="1" anchor="b" anchorCtr="0" compatLnSpc="1">
            <a:prstTxWarp prst="textNoShape">
              <a:avLst/>
            </a:prstTxWarp>
          </a:bodyPr>
          <a:lstStyle>
            <a:lvl1pPr algn="l" defTabSz="931887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5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6115" y="6657446"/>
            <a:ext cx="4028748" cy="35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164" tIns="46582" rIns="93164" bIns="46582" numCol="1" anchor="b" anchorCtr="0" compatLnSpc="1">
            <a:prstTxWarp prst="textNoShape">
              <a:avLst/>
            </a:prstTxWarp>
          </a:bodyPr>
          <a:lstStyle>
            <a:lvl1pPr algn="r" defTabSz="931887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F57D3C6-A891-4C13-A317-E5AF213DE4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4764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90152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F57D3C6-A891-4C13-A317-E5AF213DE411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404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F57D3C6-A891-4C13-A317-E5AF213DE411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129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F57D3C6-A891-4C13-A317-E5AF213DE411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8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F57D3C6-A891-4C13-A317-E5AF213DE411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665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5D7AF-E88E-A3CB-DE3D-69425AE6E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A8478D-DFF7-9914-974A-C3ABF49DB3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E84066-27D1-D5CE-666E-2923432E4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49863-C2A4-5B75-DDE8-17AFDF77D6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F57D3C6-A891-4C13-A317-E5AF213DE411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35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5D7AF-E88E-A3CB-DE3D-69425AE6E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A8478D-DFF7-9914-974A-C3ABF49DB3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E84066-27D1-D5CE-666E-2923432E4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49863-C2A4-5B75-DDE8-17AFDF77D6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F57D3C6-A891-4C13-A317-E5AF213DE411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237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CCA82E-6E36-4BBC-A266-3A7909F18F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70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C1EE6D-9120-45BE-A9CD-3DCE45101F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562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EFFDA1-525A-4C99-ABBE-6E340CBAEA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014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2EC106-CDB3-4BCE-8B4B-EB42E3AD58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999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57AE64-7DD2-4DE6-95DA-70AB1B713B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73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9237E6-FD96-4921-99C5-BA7596F491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94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EBF2A-AFCF-4BF0-8CA0-04672D6EF4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617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1E2E61-E4AB-438D-8D42-F4E06FDECD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0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489BC8-4310-4C17-99FE-86EF30F01C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631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4601C0-B355-4623-A111-D7D54518DC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412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DF577A-7846-4215-BA21-ACC380F972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19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DE10A62-6EEC-4C12-A3A2-886C0EDAFC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/>
          <p:cNvSpPr>
            <a:spLocks noChangeArrowheads="1"/>
          </p:cNvSpPr>
          <p:nvPr/>
        </p:nvSpPr>
        <p:spPr bwMode="auto">
          <a:xfrm>
            <a:off x="228600" y="1066800"/>
            <a:ext cx="8686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15000"/>
              </a:spcBef>
              <a:buFontTx/>
              <a:buNone/>
            </a:pPr>
            <a:r>
              <a:rPr lang="en-US" altLang="en-US" sz="6600" dirty="0">
                <a:solidFill>
                  <a:srgbClr val="002060"/>
                </a:solidFill>
                <a:latin typeface="Calibri" panose="020F0502020204030204" pitchFamily="34" charset="0"/>
              </a:rPr>
              <a:t>H</a:t>
            </a:r>
            <a:r>
              <a:rPr lang="en-US" altLang="en-US" sz="6600" baseline="-25000" dirty="0">
                <a:solidFill>
                  <a:srgbClr val="002060"/>
                </a:solidFill>
                <a:latin typeface="Calibri" panose="020F0502020204030204" pitchFamily="34" charset="0"/>
              </a:rPr>
              <a:t>3</a:t>
            </a:r>
            <a:r>
              <a:rPr lang="en-US" altLang="en-US" sz="6600" dirty="0">
                <a:solidFill>
                  <a:srgbClr val="002060"/>
                </a:solidFill>
                <a:latin typeface="Calibri" panose="020F0502020204030204" pitchFamily="34" charset="0"/>
              </a:rPr>
              <a:t>O</a:t>
            </a:r>
            <a:r>
              <a:rPr lang="en-US" altLang="en-US" sz="6600" baseline="30000" dirty="0">
                <a:solidFill>
                  <a:srgbClr val="002060"/>
                </a:solidFill>
                <a:latin typeface="Calibri" panose="020F0502020204030204" pitchFamily="34" charset="0"/>
              </a:rPr>
              <a:t>+</a:t>
            </a:r>
            <a:r>
              <a:rPr lang="en-US" altLang="en-US" sz="6600" dirty="0">
                <a:solidFill>
                  <a:srgbClr val="002060"/>
                </a:solidFill>
                <a:latin typeface="Calibri" panose="020F0502020204030204" pitchFamily="34" charset="0"/>
              </a:rPr>
              <a:t> Project</a:t>
            </a:r>
          </a:p>
          <a:p>
            <a:pPr algn="ctr" eaLnBrk="1" hangingPunct="1">
              <a:spcBef>
                <a:spcPct val="15000"/>
              </a:spcBef>
              <a:buFontTx/>
              <a:buNone/>
            </a:pPr>
            <a:r>
              <a:rPr lang="en-US" altLang="en-US" sz="3600" dirty="0">
                <a:solidFill>
                  <a:srgbClr val="002060"/>
                </a:solidFill>
                <a:latin typeface="Calibri" panose="020F0502020204030204" pitchFamily="34" charset="0"/>
              </a:rPr>
              <a:t>Team Meeting 1</a:t>
            </a:r>
          </a:p>
          <a:p>
            <a:pPr algn="ctr" eaLnBrk="1" hangingPunct="1">
              <a:spcBef>
                <a:spcPts val="1200"/>
              </a:spcBef>
              <a:buFontTx/>
              <a:buNone/>
            </a:pP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 eaLnBrk="1" hangingPunct="1">
              <a:spcBef>
                <a:spcPts val="1200"/>
              </a:spcBef>
              <a:buFontTx/>
              <a:buNone/>
            </a:pP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(1) Project Background</a:t>
            </a:r>
          </a:p>
          <a:p>
            <a:pPr algn="ctr" eaLnBrk="1" hangingPunct="1">
              <a:spcBef>
                <a:spcPts val="1200"/>
              </a:spcBef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(2)Procedures</a:t>
            </a:r>
          </a:p>
          <a:p>
            <a:pPr algn="ctr" eaLnBrk="1" hangingPunct="1">
              <a:spcBef>
                <a:spcPts val="1200"/>
              </a:spcBef>
              <a:buFontTx/>
              <a:buNone/>
            </a:pPr>
            <a:endParaRPr lang="en-US" altLang="en-US" sz="3600" dirty="0">
              <a:solidFill>
                <a:srgbClr val="00B0F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0" y="0"/>
            <a:ext cx="9144000" cy="609600"/>
          </a:xfrm>
          <a:prstGeom prst="rect">
            <a:avLst/>
          </a:prstGeom>
          <a:gradFill>
            <a:gsLst>
              <a:gs pos="0">
                <a:srgbClr val="FF6600"/>
              </a:gs>
              <a:gs pos="100000">
                <a:schemeClr val="bg1"/>
              </a:gs>
            </a:gsLst>
            <a:lin ang="5400000" scaled="1"/>
          </a:gra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657600" algn="l"/>
              </a:tabLst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ZapfHumnst BT" pitchFamily="34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 flipV="1"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002060"/>
              </a:gs>
              <a:gs pos="100000">
                <a:schemeClr val="bg1"/>
              </a:gs>
            </a:gsLst>
            <a:lin ang="5400000" scaled="1"/>
          </a:gra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657600" algn="l"/>
              </a:tabLst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ZapfHumnst BT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5582042"/>
            <a:ext cx="3200400" cy="5882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ECD7F308-8E11-41CB-BBB2-7BD37CA32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en-US" dirty="0">
                <a:solidFill>
                  <a:srgbClr val="333399"/>
                </a:solidFill>
                <a:latin typeface="Calibri" panose="020F0502020204030204" pitchFamily="34" charset="0"/>
              </a:rPr>
              <a:t>Background: Cation-Ice Reactions</a:t>
            </a:r>
            <a:endParaRPr lang="en-US" altLang="en-US" dirty="0">
              <a:solidFill>
                <a:srgbClr val="333399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4B229A-DA38-04BD-50CC-02328875B8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00" t="20232" r="23500" b="60233"/>
          <a:stretch/>
        </p:blipFill>
        <p:spPr>
          <a:xfrm>
            <a:off x="457200" y="1066800"/>
            <a:ext cx="8229600" cy="169432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5" name="Text Box 13">
            <a:extLst>
              <a:ext uri="{FF2B5EF4-FFF2-40B4-BE49-F238E27FC236}">
                <a16:creationId xmlns:a16="http://schemas.microsoft.com/office/drawing/2014/main" id="{6CAC1391-5956-D3FC-9A00-62180D646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17017"/>
            <a:ext cx="6629400" cy="945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tabLst>
                <a:tab pos="1371600" algn="l"/>
              </a:tabLst>
            </a:pPr>
            <a:r>
              <a:rPr lang="en-US" altLang="en-US" sz="2200" dirty="0">
                <a:latin typeface="Calibri" panose="020F0502020204030204" pitchFamily="34" charset="0"/>
              </a:rPr>
              <a:t>HCO</a:t>
            </a:r>
            <a:r>
              <a:rPr lang="en-US" altLang="en-US" sz="2200" baseline="30000" dirty="0">
                <a:latin typeface="Calibri" panose="020F0502020204030204" pitchFamily="34" charset="0"/>
              </a:rPr>
              <a:t>+</a:t>
            </a:r>
            <a:r>
              <a:rPr lang="en-US" altLang="en-US" sz="2200" dirty="0">
                <a:latin typeface="Calibri" panose="020F0502020204030204" pitchFamily="34" charset="0"/>
              </a:rPr>
              <a:t> + </a:t>
            </a:r>
            <a:r>
              <a:rPr lang="en-US" altLang="en-US" sz="2200" dirty="0" err="1">
                <a:latin typeface="Calibri" panose="020F0502020204030204" pitchFamily="34" charset="0"/>
              </a:rPr>
              <a:t>asw</a:t>
            </a:r>
            <a:r>
              <a:rPr lang="en-US" altLang="en-US" sz="2200" dirty="0">
                <a:latin typeface="Calibri" panose="020F0502020204030204" pitchFamily="34" charset="0"/>
              </a:rPr>
              <a:t>	</a:t>
            </a: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2200" dirty="0">
                <a:latin typeface="Calibri" panose="020F0502020204030204" pitchFamily="34" charset="0"/>
              </a:rPr>
              <a:t> </a:t>
            </a:r>
            <a:r>
              <a:rPr lang="en-US" altLang="en-US" sz="2200" dirty="0">
                <a:solidFill>
                  <a:srgbClr val="1AAD13"/>
                </a:solidFill>
                <a:latin typeface="Calibri" panose="020F0502020204030204" pitchFamily="34" charset="0"/>
              </a:rPr>
              <a:t>HCOOH</a:t>
            </a:r>
            <a:r>
              <a:rPr lang="en-US" altLang="en-US" sz="2200" dirty="0">
                <a:latin typeface="Calibri" panose="020F0502020204030204" pitchFamily="34" charset="0"/>
              </a:rPr>
              <a:t> – H</a:t>
            </a:r>
            <a:r>
              <a:rPr lang="en-US" altLang="en-US" sz="2200" baseline="-25000" dirty="0">
                <a:latin typeface="Calibri" panose="020F0502020204030204" pitchFamily="34" charset="0"/>
              </a:rPr>
              <a:t>3</a:t>
            </a:r>
            <a:r>
              <a:rPr lang="en-US" altLang="en-US" sz="2200" dirty="0">
                <a:latin typeface="Calibri" panose="020F0502020204030204" pitchFamily="34" charset="0"/>
              </a:rPr>
              <a:t>O</a:t>
            </a:r>
            <a:r>
              <a:rPr lang="en-US" altLang="en-US" sz="2200" baseline="30000" dirty="0">
                <a:latin typeface="Calibri" panose="020F0502020204030204" pitchFamily="34" charset="0"/>
              </a:rPr>
              <a:t>+</a:t>
            </a:r>
            <a:r>
              <a:rPr lang="en-US" altLang="en-US" sz="2200" dirty="0">
                <a:latin typeface="Calibri" panose="020F0502020204030204" pitchFamily="34" charset="0"/>
              </a:rPr>
              <a:t> – </a:t>
            </a:r>
            <a:r>
              <a:rPr lang="en-US" altLang="en-US" sz="2200" dirty="0" err="1">
                <a:latin typeface="Calibri" panose="020F0502020204030204" pitchFamily="34" charset="0"/>
              </a:rPr>
              <a:t>asw</a:t>
            </a:r>
            <a:r>
              <a:rPr lang="en-US" altLang="en-US" sz="2200" dirty="0">
                <a:latin typeface="Calibri" panose="020F0502020204030204" pitchFamily="34" charset="0"/>
              </a:rPr>
              <a:t> </a:t>
            </a:r>
            <a:r>
              <a:rPr lang="en-US" altLang="en-US" sz="1600" dirty="0">
                <a:latin typeface="Calibri" panose="020F0502020204030204" pitchFamily="34" charset="0"/>
              </a:rPr>
              <a:t>(amorphous solid water)</a:t>
            </a:r>
          </a:p>
          <a:p>
            <a:pPr eaLnBrk="1" hangingPunct="1">
              <a:spcBef>
                <a:spcPct val="0"/>
              </a:spcBef>
              <a:buFontTx/>
              <a:buNone/>
              <a:tabLst>
                <a:tab pos="1371600" algn="l"/>
              </a:tabLst>
            </a:pPr>
            <a:r>
              <a:rPr lang="en-US" altLang="en-US" sz="2200" dirty="0">
                <a:latin typeface="Calibri" panose="020F0502020204030204" pitchFamily="34" charset="0"/>
              </a:rPr>
              <a:t>	</a:t>
            </a: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2200" dirty="0">
                <a:latin typeface="Calibri" panose="020F0502020204030204" pitchFamily="34" charset="0"/>
              </a:rPr>
              <a:t> </a:t>
            </a:r>
            <a:r>
              <a:rPr lang="en-US" altLang="en-US" sz="2200" dirty="0">
                <a:solidFill>
                  <a:srgbClr val="1AAD13"/>
                </a:solidFill>
                <a:latin typeface="Calibri" panose="020F0502020204030204" pitchFamily="34" charset="0"/>
              </a:rPr>
              <a:t>CO</a:t>
            </a:r>
            <a:r>
              <a:rPr lang="en-US" altLang="en-US" sz="2200" dirty="0">
                <a:latin typeface="Calibri" panose="020F0502020204030204" pitchFamily="34" charset="0"/>
              </a:rPr>
              <a:t> – H</a:t>
            </a:r>
            <a:r>
              <a:rPr lang="en-US" altLang="en-US" sz="2200" baseline="-25000" dirty="0">
                <a:latin typeface="Calibri" panose="020F0502020204030204" pitchFamily="34" charset="0"/>
              </a:rPr>
              <a:t>3</a:t>
            </a:r>
            <a:r>
              <a:rPr lang="en-US" altLang="en-US" sz="2200" dirty="0">
                <a:latin typeface="Calibri" panose="020F0502020204030204" pitchFamily="34" charset="0"/>
              </a:rPr>
              <a:t>O</a:t>
            </a:r>
            <a:r>
              <a:rPr lang="en-US" altLang="en-US" sz="2200" baseline="30000" dirty="0">
                <a:latin typeface="Calibri" panose="020F0502020204030204" pitchFamily="34" charset="0"/>
              </a:rPr>
              <a:t>+</a:t>
            </a:r>
            <a:r>
              <a:rPr lang="en-US" altLang="en-US" sz="2200" dirty="0">
                <a:latin typeface="Calibri" panose="020F0502020204030204" pitchFamily="34" charset="0"/>
              </a:rPr>
              <a:t> – </a:t>
            </a:r>
            <a:r>
              <a:rPr lang="en-US" altLang="en-US" sz="2200" dirty="0" err="1">
                <a:latin typeface="Calibri" panose="020F0502020204030204" pitchFamily="34" charset="0"/>
              </a:rPr>
              <a:t>asw</a:t>
            </a:r>
            <a:endParaRPr lang="en-US" altLang="en-US" sz="2200" dirty="0">
              <a:latin typeface="Calibri" panose="020F0502020204030204" pitchFamily="34" charset="0"/>
            </a:endParaRP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B26557B2-2B1A-7E36-D751-069F798D5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038600"/>
            <a:ext cx="73914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latin typeface="Calibri" panose="020F0502020204030204" pitchFamily="34" charset="0"/>
              </a:rPr>
              <a:t>When HCO</a:t>
            </a:r>
            <a:r>
              <a:rPr lang="en-US" altLang="en-US" sz="2200" baseline="30000" dirty="0">
                <a:latin typeface="Calibri" panose="020F0502020204030204" pitchFamily="34" charset="0"/>
              </a:rPr>
              <a:t>+</a:t>
            </a:r>
            <a:r>
              <a:rPr lang="en-US" altLang="en-US" sz="2200" dirty="0">
                <a:latin typeface="Calibri" panose="020F0502020204030204" pitchFamily="34" charset="0"/>
              </a:rPr>
              <a:t> reacts with </a:t>
            </a:r>
            <a:r>
              <a:rPr lang="en-US" altLang="en-US" sz="2200" dirty="0" err="1">
                <a:latin typeface="Calibri" panose="020F0502020204030204" pitchFamily="34" charset="0"/>
              </a:rPr>
              <a:t>asw</a:t>
            </a:r>
            <a:r>
              <a:rPr lang="en-US" altLang="en-US" sz="2200" dirty="0">
                <a:latin typeface="Calibri" panose="020F0502020204030204" pitchFamily="34" charset="0"/>
              </a:rPr>
              <a:t>, either HCOOH or CO forms, but H</a:t>
            </a:r>
            <a:r>
              <a:rPr lang="en-US" altLang="en-US" sz="2200" baseline="-25000" dirty="0">
                <a:latin typeface="Calibri" panose="020F0502020204030204" pitchFamily="34" charset="0"/>
              </a:rPr>
              <a:t>3</a:t>
            </a:r>
            <a:r>
              <a:rPr lang="en-US" altLang="en-US" sz="2200" dirty="0">
                <a:latin typeface="Calibri" panose="020F0502020204030204" pitchFamily="34" charset="0"/>
              </a:rPr>
              <a:t>O</a:t>
            </a:r>
            <a:r>
              <a:rPr lang="en-US" altLang="en-US" sz="2200" baseline="30000" dirty="0">
                <a:latin typeface="Calibri" panose="020F0502020204030204" pitchFamily="34" charset="0"/>
              </a:rPr>
              <a:t>+</a:t>
            </a:r>
            <a:r>
              <a:rPr lang="en-US" altLang="en-US" sz="2200" dirty="0">
                <a:latin typeface="Calibri" panose="020F0502020204030204" pitchFamily="34" charset="0"/>
              </a:rPr>
              <a:t> </a:t>
            </a:r>
            <a:r>
              <a:rPr lang="en-US" altLang="en-US" sz="2200" i="1" dirty="0">
                <a:latin typeface="Calibri" panose="020F0502020204030204" pitchFamily="34" charset="0"/>
              </a:rPr>
              <a:t>always</a:t>
            </a:r>
            <a:r>
              <a:rPr lang="en-US" altLang="en-US" sz="2200" dirty="0">
                <a:latin typeface="Calibri" panose="020F0502020204030204" pitchFamily="34" charset="0"/>
              </a:rPr>
              <a:t> forms. Hydronium is a very common product in cation-ice reactions in general.</a:t>
            </a:r>
          </a:p>
        </p:txBody>
      </p:sp>
    </p:spTree>
    <p:extLst>
      <p:ext uri="{BB962C8B-B14F-4D97-AF65-F5344CB8AC3E}">
        <p14:creationId xmlns:p14="http://schemas.microsoft.com/office/powerpoint/2010/main" val="104756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FD77D5F5-286F-B910-536F-36E199C90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en-US" dirty="0">
                <a:solidFill>
                  <a:srgbClr val="333399"/>
                </a:solidFill>
                <a:latin typeface="Calibri" panose="020F0502020204030204" pitchFamily="34" charset="0"/>
              </a:rPr>
              <a:t>Background: Solvated Electron</a:t>
            </a:r>
            <a:endParaRPr lang="en-US" altLang="en-US" dirty="0">
              <a:solidFill>
                <a:srgbClr val="333399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Box 11">
            <a:extLst>
              <a:ext uri="{FF2B5EF4-FFF2-40B4-BE49-F238E27FC236}">
                <a16:creationId xmlns:a16="http://schemas.microsoft.com/office/drawing/2014/main" id="{D6796258-030D-CFAF-0591-4D99F5E3B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724400"/>
            <a:ext cx="7391400" cy="1219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Diffuse basis functions (small exponent  large radial extent) are important for describing anions, but describing a solvated electron calls for extra diffuse functions.</a:t>
            </a:r>
            <a:endParaRPr lang="en-US" altLang="en-US" sz="2200" baseline="-25000" dirty="0">
              <a:latin typeface="Calibri" panose="020F050202020403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49502D4-6BFE-6411-78FB-337A3CDE1938}"/>
              </a:ext>
            </a:extLst>
          </p:cNvPr>
          <p:cNvGrpSpPr/>
          <p:nvPr/>
        </p:nvGrpSpPr>
        <p:grpSpPr>
          <a:xfrm>
            <a:off x="457200" y="914400"/>
            <a:ext cx="6705601" cy="2743202"/>
            <a:chOff x="990599" y="1905000"/>
            <a:chExt cx="6705601" cy="274320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8636518-FB07-1493-7DE4-9B72AAF8A9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8333" t="36307" r="24167" b="39046"/>
            <a:stretch/>
          </p:blipFill>
          <p:spPr>
            <a:xfrm>
              <a:off x="990599" y="1905000"/>
              <a:ext cx="6531429" cy="2286000"/>
            </a:xfrm>
            <a:prstGeom prst="rect">
              <a:avLst/>
            </a:prstGeom>
          </p:spPr>
        </p:pic>
        <p:sp>
          <p:nvSpPr>
            <p:cNvPr id="6" name="Text Box 11">
              <a:extLst>
                <a:ext uri="{FF2B5EF4-FFF2-40B4-BE49-F238E27FC236}">
                  <a16:creationId xmlns:a16="http://schemas.microsoft.com/office/drawing/2014/main" id="{C768CE60-D867-ADCB-2236-E3E48CD030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9200" y="4191000"/>
              <a:ext cx="4343400" cy="4219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i="1" dirty="0">
                  <a:latin typeface="Calibri" panose="020F0502020204030204" pitchFamily="34" charset="0"/>
                  <a:sym typeface="Symbol" panose="05050102010706020507" pitchFamily="18" charset="2"/>
                </a:rPr>
                <a:t>Front Astron Space Sci</a:t>
              </a:r>
              <a:r>
                <a:rPr lang="en-US" altLang="en-US" sz="2000" dirty="0">
                  <a:latin typeface="Calibri" panose="020F0502020204030204" pitchFamily="34" charset="0"/>
                  <a:sym typeface="Symbol" panose="05050102010706020507" pitchFamily="18" charset="2"/>
                </a:rPr>
                <a:t> 8, 655405 (2021)</a:t>
              </a:r>
              <a:endParaRPr lang="en-US" altLang="en-US" sz="2000" baseline="-25000" dirty="0">
                <a:latin typeface="Calibri" panose="020F050202020403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B66A90F-3BAA-2DA1-1407-DDD09D0C0509}"/>
                </a:ext>
              </a:extLst>
            </p:cNvPr>
            <p:cNvSpPr/>
            <p:nvPr/>
          </p:nvSpPr>
          <p:spPr bwMode="auto">
            <a:xfrm>
              <a:off x="990599" y="2057400"/>
              <a:ext cx="6705601" cy="2590802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657600" algn="l"/>
                </a:tabLst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ZapfHumnst BT" pitchFamily="34" charset="0"/>
              </a:endParaRPr>
            </a:p>
          </p:txBody>
        </p:sp>
      </p:grpSp>
      <p:sp>
        <p:nvSpPr>
          <p:cNvPr id="11" name="Text Box 13">
            <a:extLst>
              <a:ext uri="{FF2B5EF4-FFF2-40B4-BE49-F238E27FC236}">
                <a16:creationId xmlns:a16="http://schemas.microsoft.com/office/drawing/2014/main" id="{34B423B1-273B-4127-B500-E104FFA51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007618"/>
            <a:ext cx="6629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tabLst>
                <a:tab pos="2570163" algn="l"/>
              </a:tabLst>
            </a:pPr>
            <a:r>
              <a:rPr lang="en-US" altLang="en-US" sz="2200" dirty="0" err="1">
                <a:latin typeface="Calibri" panose="020F0502020204030204" pitchFamily="34" charset="0"/>
              </a:rPr>
              <a:t>asw</a:t>
            </a:r>
            <a:r>
              <a:rPr lang="en-US" altLang="en-US" sz="2200" dirty="0">
                <a:latin typeface="Calibri" panose="020F0502020204030204" pitchFamily="34" charset="0"/>
              </a:rPr>
              <a:t> + e</a:t>
            </a:r>
            <a:r>
              <a:rPr lang="en-US" altLang="en-US" sz="2200" baseline="30000" dirty="0">
                <a:latin typeface="Calibri" panose="020F0502020204030204" pitchFamily="34" charset="0"/>
              </a:rPr>
              <a:t>–</a:t>
            </a:r>
            <a:r>
              <a:rPr lang="en-US" altLang="en-US" sz="2200" dirty="0">
                <a:latin typeface="Calibri" panose="020F0502020204030204" pitchFamily="34" charset="0"/>
              </a:rPr>
              <a:t> </a:t>
            </a: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2200" dirty="0">
                <a:latin typeface="Calibri" panose="020F0502020204030204" pitchFamily="34" charset="0"/>
              </a:rPr>
              <a:t> </a:t>
            </a:r>
            <a:r>
              <a:rPr lang="en-US" altLang="en-US" sz="2200" dirty="0" err="1">
                <a:solidFill>
                  <a:srgbClr val="1AAD13"/>
                </a:solidFill>
                <a:latin typeface="Calibri" panose="020F0502020204030204" pitchFamily="34" charset="0"/>
              </a:rPr>
              <a:t>asw</a:t>
            </a:r>
            <a:r>
              <a:rPr lang="en-US" altLang="en-US" sz="2200" baseline="30000" dirty="0">
                <a:solidFill>
                  <a:srgbClr val="1AAD13"/>
                </a:solidFill>
                <a:latin typeface="Calibri" panose="020F0502020204030204" pitchFamily="34" charset="0"/>
              </a:rPr>
              <a:t>–</a:t>
            </a:r>
            <a:r>
              <a:rPr lang="en-US" altLang="en-US" sz="2200" baseline="30000" dirty="0">
                <a:latin typeface="Calibri" panose="020F0502020204030204" pitchFamily="34" charset="0"/>
              </a:rPr>
              <a:t> </a:t>
            </a:r>
            <a:r>
              <a:rPr lang="en-US" altLang="en-US" sz="2200" dirty="0">
                <a:latin typeface="Calibri" panose="020F0502020204030204" pitchFamily="34" charset="0"/>
              </a:rPr>
              <a:t>	(EA = </a:t>
            </a:r>
            <a:r>
              <a:rPr lang="en-US" altLang="en-US" sz="2200" dirty="0">
                <a:solidFill>
                  <a:srgbClr val="C00000"/>
                </a:solidFill>
                <a:latin typeface="Calibri" panose="020F0502020204030204" pitchFamily="34" charset="0"/>
              </a:rPr>
              <a:t>0.52 eV</a:t>
            </a:r>
            <a:r>
              <a:rPr lang="en-US" altLang="en-US" sz="2200" dirty="0">
                <a:latin typeface="Calibri" panose="020F0502020204030204" pitchFamily="34" charset="0"/>
              </a:rPr>
              <a:t>)  </a:t>
            </a:r>
            <a:r>
              <a:rPr lang="en-US" altLang="en-US" sz="22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(electron affinity)</a:t>
            </a:r>
            <a:endParaRPr lang="en-US" altLang="en-US" sz="2200" dirty="0"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tabLst>
                <a:tab pos="1371600" algn="l"/>
              </a:tabLst>
            </a:pPr>
            <a:endParaRPr lang="en-US" altLang="en-US" sz="2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397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FD77D5F5-286F-B910-536F-36E199C90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en-US" dirty="0">
                <a:solidFill>
                  <a:srgbClr val="333399"/>
                </a:solidFill>
                <a:latin typeface="Calibri" panose="020F0502020204030204" pitchFamily="34" charset="0"/>
              </a:rPr>
              <a:t>Background: Solvated Electron</a:t>
            </a:r>
            <a:endParaRPr lang="en-US" altLang="en-US" dirty="0">
              <a:solidFill>
                <a:srgbClr val="333399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53C21259-6AB0-5369-B355-6D8AF3B7A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73914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Albert added a number of diffuse functions to a (mediocre) Pople base set of 6-31++G(</a:t>
            </a:r>
            <a:r>
              <a:rPr lang="en-US" altLang="en-US" sz="2200" dirty="0" err="1">
                <a:latin typeface="Calibri" panose="020F0502020204030204" pitchFamily="34" charset="0"/>
                <a:sym typeface="Symbol" panose="05050102010706020507" pitchFamily="18" charset="2"/>
              </a:rPr>
              <a:t>d,p</a:t>
            </a: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): 2 additional diffuse s functions on each H atom for optimizations and additional diffuse s and p functions on O for single point calculations. That’s a lot of extra functions: are they necessary?</a:t>
            </a:r>
            <a:endParaRPr lang="en-US" altLang="en-US" sz="2200" baseline="-25000" dirty="0">
              <a:latin typeface="Calibri" panose="020F0502020204030204" pitchFamily="34" charset="0"/>
            </a:endParaRPr>
          </a:p>
        </p:txBody>
      </p:sp>
      <p:sp>
        <p:nvSpPr>
          <p:cNvPr id="9" name="Text Box 11">
            <a:extLst>
              <a:ext uri="{FF2B5EF4-FFF2-40B4-BE49-F238E27FC236}">
                <a16:creationId xmlns:a16="http://schemas.microsoft.com/office/drawing/2014/main" id="{D2514B4E-E230-C801-8458-A961B6DD3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971800"/>
            <a:ext cx="73914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My base set is </a:t>
            </a:r>
            <a:r>
              <a:rPr lang="en-US" altLang="en-US" sz="2200" dirty="0" err="1">
                <a:latin typeface="Calibri" panose="020F0502020204030204" pitchFamily="34" charset="0"/>
                <a:sym typeface="Symbol" panose="05050102010706020507" pitchFamily="18" charset="2"/>
              </a:rPr>
              <a:t>aug</a:t>
            </a: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-cc-</a:t>
            </a:r>
            <a:r>
              <a:rPr lang="en-US" altLang="en-US" sz="2200" dirty="0" err="1">
                <a:latin typeface="Calibri" panose="020F0502020204030204" pitchFamily="34" charset="0"/>
                <a:sym typeface="Symbol" panose="05050102010706020507" pitchFamily="18" charset="2"/>
              </a:rPr>
              <a:t>pVDZ</a:t>
            </a: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 on O and cc-</a:t>
            </a:r>
            <a:r>
              <a:rPr lang="en-US" altLang="en-US" sz="2200" dirty="0" err="1">
                <a:latin typeface="Calibri" panose="020F0502020204030204" pitchFamily="34" charset="0"/>
                <a:sym typeface="Symbol" panose="05050102010706020507" pitchFamily="18" charset="2"/>
              </a:rPr>
              <a:t>pVDZ</a:t>
            </a: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 on H (MVDZ), which provides a much richer description of the valence electrons than Pople basis sets. It does fine for the EA of OH, for example:</a:t>
            </a:r>
          </a:p>
          <a:p>
            <a:pPr indent="6350" eaLnBrk="1" hangingPunct="1">
              <a:spcBef>
                <a:spcPts val="1200"/>
              </a:spcBef>
              <a:buFontTx/>
              <a:buNone/>
              <a:tabLst>
                <a:tab pos="457200" algn="l"/>
                <a:tab pos="2397125" algn="l"/>
              </a:tabLst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	B3LYP/MVDZ	1.83 eV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457200" algn="l"/>
                <a:tab pos="2397125" algn="l"/>
              </a:tabLst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	experiment	1.83 eV</a:t>
            </a:r>
          </a:p>
          <a:p>
            <a:pPr indent="6350" eaLnBrk="1" hangingPunct="1">
              <a:spcBef>
                <a:spcPts val="1200"/>
              </a:spcBef>
              <a:buFontTx/>
              <a:buNone/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I explored the solvated electron EA in a 27H</a:t>
            </a:r>
            <a:r>
              <a:rPr lang="en-US" altLang="en-US" sz="2200" baseline="-25000" dirty="0">
                <a:latin typeface="Calibri" panose="020F050202020403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O cluster.</a:t>
            </a:r>
          </a:p>
        </p:txBody>
      </p:sp>
    </p:spTree>
    <p:extLst>
      <p:ext uri="{BB962C8B-B14F-4D97-AF65-F5344CB8AC3E}">
        <p14:creationId xmlns:p14="http://schemas.microsoft.com/office/powerpoint/2010/main" val="2389553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FD77D5F5-286F-B910-536F-36E199C90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en-US" dirty="0">
                <a:solidFill>
                  <a:srgbClr val="333399"/>
                </a:solidFill>
                <a:latin typeface="Calibri" panose="020F0502020204030204" pitchFamily="34" charset="0"/>
              </a:rPr>
              <a:t>Background: Solvated Electron</a:t>
            </a:r>
            <a:endParaRPr lang="en-US" altLang="en-US" dirty="0">
              <a:solidFill>
                <a:srgbClr val="333399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53C21259-6AB0-5369-B355-6D8AF3B7A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73914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  <a:tabLst>
                <a:tab pos="1828800" algn="l"/>
              </a:tabLst>
            </a:pP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BASIS	EA(eV)  (single point calculations)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1828800" algn="l"/>
              </a:tabLst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MVDZ	0.103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1828800" algn="l"/>
              </a:tabLst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AVDZ	0.595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1828800" algn="l"/>
              </a:tabLst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MVDZ+1	0.599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1828800" algn="l"/>
              </a:tabLst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MVDZ+2	0.648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1828800" algn="l"/>
              </a:tabLst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MVDZ+1+1	0.622</a:t>
            </a:r>
            <a:endParaRPr lang="en-US" altLang="en-US" sz="2200" dirty="0">
              <a:latin typeface="Calibri" panose="020F0502020204030204" pitchFamily="34" charset="0"/>
            </a:endParaRPr>
          </a:p>
        </p:txBody>
      </p:sp>
      <p:sp>
        <p:nvSpPr>
          <p:cNvPr id="2" name="Text Box 11">
            <a:extLst>
              <a:ext uri="{FF2B5EF4-FFF2-40B4-BE49-F238E27FC236}">
                <a16:creationId xmlns:a16="http://schemas.microsoft.com/office/drawing/2014/main" id="{F7E71730-1281-819C-9979-7BEF2009A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429000"/>
            <a:ext cx="73914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  <a:tabLst>
                <a:tab pos="1828800" algn="l"/>
              </a:tabLst>
            </a:pPr>
            <a:r>
              <a:rPr lang="en-US" altLang="en-US" sz="2200" dirty="0">
                <a:solidFill>
                  <a:srgbClr val="7030A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27H</a:t>
            </a:r>
            <a:r>
              <a:rPr lang="en-US" altLang="en-US" sz="2200" baseline="-25000" dirty="0">
                <a:solidFill>
                  <a:srgbClr val="7030A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200" dirty="0">
                <a:solidFill>
                  <a:srgbClr val="7030A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O: 27 O atoms, 54 H atoms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1828800" algn="l"/>
              </a:tabLst>
            </a:pPr>
            <a:endParaRPr lang="en-US" altLang="en-US" sz="2200" dirty="0">
              <a:solidFill>
                <a:srgbClr val="0070C0"/>
              </a:solidFill>
              <a:latin typeface="Calibri" panose="020F0502020204030204" pitchFamily="34" charset="0"/>
              <a:sym typeface="Symbol" panose="05050102010706020507" pitchFamily="18" charset="2"/>
            </a:endParaRP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1828800" algn="l"/>
                <a:tab pos="4806950" algn="l"/>
              </a:tabLst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AVDZ	add 1s1p per H atom	+216 functions!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1828800" algn="l"/>
                <a:tab pos="4806950" algn="l"/>
              </a:tabLst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MVDZ+1	add 1s per O atom	+27 functions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1828800" algn="l"/>
                <a:tab pos="4806950" algn="l"/>
              </a:tabLst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MVDZ+2	add 2s per O atom	+54 functions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1828800" algn="l"/>
                <a:tab pos="4806950" algn="l"/>
              </a:tabLst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MVDZ+1+1	add 1s each per O/H	+81 functions</a:t>
            </a:r>
            <a:endParaRPr lang="en-US" altLang="en-US" sz="2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499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FD77D5F5-286F-B910-536F-36E199C90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en-US" dirty="0">
                <a:solidFill>
                  <a:srgbClr val="333399"/>
                </a:solidFill>
                <a:latin typeface="Calibri" panose="020F0502020204030204" pitchFamily="34" charset="0"/>
              </a:rPr>
              <a:t>Background: Solvated Electron</a:t>
            </a:r>
            <a:endParaRPr lang="en-US" altLang="en-US" dirty="0">
              <a:solidFill>
                <a:srgbClr val="333399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53C21259-6AB0-5369-B355-6D8AF3B7A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73914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  <a:tabLst>
                <a:tab pos="1828800" algn="l"/>
              </a:tabLst>
            </a:pP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BASIS	EA(eV)  (single point calculations)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1828800" algn="l"/>
              </a:tabLst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MVDZ	0.103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1828800" algn="l"/>
              </a:tabLst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AVDZ	0.595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1828800" algn="l"/>
              </a:tabLst>
            </a:pPr>
            <a:r>
              <a:rPr lang="en-US" altLang="en-US" sz="2200" dirty="0">
                <a:solidFill>
                  <a:srgbClr val="FF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MVDZ+1	0.599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1828800" algn="l"/>
              </a:tabLst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MVDZ+2	0.648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1828800" algn="l"/>
              </a:tabLst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MVDZ+1+1	0.622</a:t>
            </a:r>
            <a:endParaRPr lang="en-US" altLang="en-US" sz="2200" dirty="0">
              <a:latin typeface="Calibri" panose="020F0502020204030204" pitchFamily="34" charset="0"/>
            </a:endParaRPr>
          </a:p>
        </p:txBody>
      </p:sp>
      <p:sp>
        <p:nvSpPr>
          <p:cNvPr id="2" name="Text Box 11">
            <a:extLst>
              <a:ext uri="{FF2B5EF4-FFF2-40B4-BE49-F238E27FC236}">
                <a16:creationId xmlns:a16="http://schemas.microsoft.com/office/drawing/2014/main" id="{F7E71730-1281-819C-9979-7BEF2009A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429000"/>
            <a:ext cx="73914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  <a:tabLst>
                <a:tab pos="1828800" algn="l"/>
              </a:tabLst>
            </a:pPr>
            <a:r>
              <a:rPr lang="en-US" altLang="en-US" sz="2200" dirty="0">
                <a:solidFill>
                  <a:srgbClr val="7030A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27H</a:t>
            </a:r>
            <a:r>
              <a:rPr lang="en-US" altLang="en-US" sz="2200" baseline="-25000" dirty="0">
                <a:solidFill>
                  <a:srgbClr val="7030A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200" dirty="0">
                <a:solidFill>
                  <a:srgbClr val="7030A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O: 27 O atoms, 54 H atoms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1828800" algn="l"/>
              </a:tabLst>
            </a:pPr>
            <a:endParaRPr lang="en-US" altLang="en-US" sz="2200" dirty="0">
              <a:solidFill>
                <a:srgbClr val="0070C0"/>
              </a:solidFill>
              <a:latin typeface="Calibri" panose="020F0502020204030204" pitchFamily="34" charset="0"/>
              <a:sym typeface="Symbol" panose="05050102010706020507" pitchFamily="18" charset="2"/>
            </a:endParaRP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1828800" algn="l"/>
                <a:tab pos="4806950" algn="l"/>
              </a:tabLst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AVDZ	add 1s1p per H atom	+216 functions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1828800" algn="l"/>
                <a:tab pos="4806950" algn="l"/>
              </a:tabLst>
            </a:pPr>
            <a:r>
              <a:rPr lang="en-US" altLang="en-US" sz="2200" dirty="0">
                <a:solidFill>
                  <a:srgbClr val="FF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MVDZ+1	add 1s per O atom	+27 functions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1828800" algn="l"/>
                <a:tab pos="4806950" algn="l"/>
              </a:tabLst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MVDZ+2	add 2s per O atom	+54 functions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1828800" algn="l"/>
                <a:tab pos="4806950" algn="l"/>
              </a:tabLst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MVDZ+1+1	add 1s each per O/H	+81 functions</a:t>
            </a:r>
            <a:endParaRPr lang="en-US" altLang="en-US" sz="2200" dirty="0">
              <a:latin typeface="Calibri" panose="020F0502020204030204" pitchFamily="34" charset="0"/>
            </a:endParaRPr>
          </a:p>
        </p:txBody>
      </p:sp>
      <p:sp>
        <p:nvSpPr>
          <p:cNvPr id="5" name="Text Box 11">
            <a:extLst>
              <a:ext uri="{FF2B5EF4-FFF2-40B4-BE49-F238E27FC236}">
                <a16:creationId xmlns:a16="http://schemas.microsoft.com/office/drawing/2014/main" id="{394E47EE-04D9-15E9-1C73-7F3F98CBB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791200"/>
            <a:ext cx="7391400" cy="457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228600" indent="-22860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A single additional diffuse s function on O is sufficient!</a:t>
            </a:r>
            <a:endParaRPr lang="en-US" altLang="en-US" sz="2200" baseline="-25000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379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48346E9-E95B-04FC-9AB1-716A8E9B8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en-US" dirty="0">
                <a:solidFill>
                  <a:srgbClr val="333399"/>
                </a:solidFill>
                <a:latin typeface="Calibri" panose="020F0502020204030204" pitchFamily="34" charset="0"/>
              </a:rPr>
              <a:t>Background: Electrons &amp; Anions</a:t>
            </a:r>
            <a:endParaRPr lang="en-US" altLang="en-US" dirty="0">
              <a:solidFill>
                <a:srgbClr val="333399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23FD39-6140-C4B8-7190-04999BF079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668" t="14533" r="24097" b="57824"/>
          <a:stretch/>
        </p:blipFill>
        <p:spPr>
          <a:xfrm>
            <a:off x="457200" y="1066800"/>
            <a:ext cx="7315200" cy="218701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4" name="Text Box 11">
            <a:extLst>
              <a:ext uri="{FF2B5EF4-FFF2-40B4-BE49-F238E27FC236}">
                <a16:creationId xmlns:a16="http://schemas.microsoft.com/office/drawing/2014/main" id="{C86115C0-CF6F-F4DD-DFA6-B34BE0221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657600"/>
            <a:ext cx="7391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This paper demonstrated that the OH</a:t>
            </a:r>
            <a:r>
              <a:rPr lang="en-US" altLang="en-US" sz="2200" baseline="30000" dirty="0">
                <a:latin typeface="Calibri" panose="020F0502020204030204" pitchFamily="34" charset="0"/>
                <a:sym typeface="Symbol" panose="05050102010706020507" pitchFamily="18" charset="2"/>
              </a:rPr>
              <a:t>–</a:t>
            </a: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 anion strongly binds an electron in ice, much more so than the solvated e</a:t>
            </a:r>
            <a:r>
              <a:rPr lang="en-US" altLang="en-US" sz="2200" baseline="30000" dirty="0">
                <a:latin typeface="Calibri" panose="020F0502020204030204" pitchFamily="34" charset="0"/>
                <a:sym typeface="Symbol" panose="05050102010706020507" pitchFamily="18" charset="2"/>
              </a:rPr>
              <a:t>–</a:t>
            </a: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.</a:t>
            </a:r>
            <a:endParaRPr lang="en-US" altLang="en-US" sz="2200" baseline="-25000" dirty="0">
              <a:latin typeface="Calibri" panose="020F0502020204030204" pitchFamily="34" charset="0"/>
            </a:endParaRPr>
          </a:p>
        </p:txBody>
      </p:sp>
      <p:sp>
        <p:nvSpPr>
          <p:cNvPr id="7" name="Text Box 11">
            <a:extLst>
              <a:ext uri="{FF2B5EF4-FFF2-40B4-BE49-F238E27FC236}">
                <a16:creationId xmlns:a16="http://schemas.microsoft.com/office/drawing/2014/main" id="{A0A8560D-4654-5429-EB31-000AAB0DD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648200"/>
            <a:ext cx="73914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I’ve subsequently found that there are differences between surface and bulk sites, but it’s more about coordination.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It’s also important to distinguish between vertical EA (VEA) (unrelaxed </a:t>
            </a:r>
            <a:r>
              <a:rPr lang="en-US" altLang="en-US" sz="2200" dirty="0" err="1">
                <a:latin typeface="Calibri" panose="020F0502020204030204" pitchFamily="34" charset="0"/>
                <a:sym typeface="Symbol" panose="05050102010706020507" pitchFamily="18" charset="2"/>
              </a:rPr>
              <a:t>geom</a:t>
            </a: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) and adiabatic EA (relaxed </a:t>
            </a:r>
            <a:r>
              <a:rPr lang="en-US" altLang="en-US" sz="2200" dirty="0" err="1">
                <a:latin typeface="Calibri" panose="020F0502020204030204" pitchFamily="34" charset="0"/>
                <a:sym typeface="Symbol" panose="05050102010706020507" pitchFamily="18" charset="2"/>
              </a:rPr>
              <a:t>geom</a:t>
            </a: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).</a:t>
            </a:r>
            <a:endParaRPr lang="en-US" altLang="en-US" sz="2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31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48346E9-E95B-04FC-9AB1-716A8E9B8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en-US" dirty="0">
                <a:solidFill>
                  <a:srgbClr val="333399"/>
                </a:solidFill>
                <a:latin typeface="Calibri" panose="020F0502020204030204" pitchFamily="34" charset="0"/>
              </a:rPr>
              <a:t>Background: Electrons &amp; Anions</a:t>
            </a:r>
            <a:endParaRPr lang="en-US" altLang="en-US" dirty="0">
              <a:solidFill>
                <a:srgbClr val="333399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23FD39-6140-C4B8-7190-04999BF079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668" t="14533" r="24097" b="57824"/>
          <a:stretch/>
        </p:blipFill>
        <p:spPr>
          <a:xfrm>
            <a:off x="457200" y="1066800"/>
            <a:ext cx="7315200" cy="218701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4" name="Text Box 11">
            <a:extLst>
              <a:ext uri="{FF2B5EF4-FFF2-40B4-BE49-F238E27FC236}">
                <a16:creationId xmlns:a16="http://schemas.microsoft.com/office/drawing/2014/main" id="{C86115C0-CF6F-F4DD-DFA6-B34BE0221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657600"/>
            <a:ext cx="73914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  <a:tabLst>
                <a:tab pos="1606550" algn="l"/>
                <a:tab pos="2978150" algn="l"/>
                <a:tab pos="4572000" algn="l"/>
              </a:tabLst>
            </a:pP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CLUSTER	TYPE	VEA(eV)	EA(eV)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1606550" algn="l"/>
                <a:tab pos="2978150" algn="l"/>
                <a:tab pos="4572000" algn="l"/>
              </a:tabLst>
            </a:pPr>
            <a:r>
              <a:rPr lang="en-US" altLang="en-US" sz="2200" dirty="0">
                <a:latin typeface="Calibri" panose="020F0502020204030204" pitchFamily="34" charset="0"/>
              </a:rPr>
              <a:t>24H</a:t>
            </a:r>
            <a:r>
              <a:rPr lang="en-US" altLang="en-US" sz="22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200" dirty="0">
                <a:latin typeface="Calibri" panose="020F0502020204030204" pitchFamily="34" charset="0"/>
              </a:rPr>
              <a:t>O	surf	2.98	5.18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1606550" algn="l"/>
                <a:tab pos="2978150" algn="l"/>
                <a:tab pos="4572000" algn="l"/>
              </a:tabLst>
            </a:pPr>
            <a:r>
              <a:rPr lang="en-US" altLang="en-US" sz="2200" dirty="0">
                <a:latin typeface="Calibri" panose="020F0502020204030204" pitchFamily="34" charset="0"/>
              </a:rPr>
              <a:t>	bulk	2.19	5.34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1606550" algn="l"/>
                <a:tab pos="2978150" algn="l"/>
                <a:tab pos="4572000" algn="l"/>
              </a:tabLst>
            </a:pPr>
            <a:r>
              <a:rPr lang="en-US" altLang="en-US" sz="2200" dirty="0">
                <a:latin typeface="Calibri" panose="020F0502020204030204" pitchFamily="34" charset="0"/>
              </a:rPr>
              <a:t>34H</a:t>
            </a:r>
            <a:r>
              <a:rPr lang="en-US" altLang="en-US" sz="22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200" dirty="0">
                <a:latin typeface="Calibri" panose="020F0502020204030204" pitchFamily="34" charset="0"/>
              </a:rPr>
              <a:t>O	surf	2.40	5.37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1606550" algn="l"/>
                <a:tab pos="2978150" algn="l"/>
                <a:tab pos="4572000" algn="l"/>
              </a:tabLst>
            </a:pPr>
            <a:r>
              <a:rPr lang="en-US" altLang="en-US" sz="2200" dirty="0">
                <a:latin typeface="Calibri" panose="020F0502020204030204" pitchFamily="34" charset="0"/>
              </a:rPr>
              <a:t>	bulk	2.39	5.32</a:t>
            </a:r>
          </a:p>
        </p:txBody>
      </p:sp>
    </p:spTree>
    <p:extLst>
      <p:ext uri="{BB962C8B-B14F-4D97-AF65-F5344CB8AC3E}">
        <p14:creationId xmlns:p14="http://schemas.microsoft.com/office/powerpoint/2010/main" val="2594098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F521C-46D4-C843-AD26-3E1FC1AA7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0F00ED1-E835-0A01-B23E-7F018B97F4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345" t="12958" r="20833" b="52295"/>
          <a:stretch/>
        </p:blipFill>
        <p:spPr>
          <a:xfrm>
            <a:off x="457200" y="1066800"/>
            <a:ext cx="8229600" cy="25908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6C71BC85-141A-21BA-87BC-6ADE4D57D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en-US" dirty="0">
                <a:solidFill>
                  <a:srgbClr val="333399"/>
                </a:solidFill>
                <a:latin typeface="Calibri" panose="020F0502020204030204" pitchFamily="34" charset="0"/>
              </a:rPr>
              <a:t>Background: What is the fate of H</a:t>
            </a:r>
            <a:r>
              <a:rPr lang="en-US" altLang="en-US" baseline="-25000" dirty="0">
                <a:solidFill>
                  <a:srgbClr val="333399"/>
                </a:solidFill>
                <a:latin typeface="Calibri" panose="020F0502020204030204" pitchFamily="34" charset="0"/>
              </a:rPr>
              <a:t>3</a:t>
            </a:r>
            <a:r>
              <a:rPr lang="en-US" altLang="en-US" dirty="0">
                <a:solidFill>
                  <a:srgbClr val="333399"/>
                </a:solidFill>
                <a:latin typeface="Calibri" panose="020F0502020204030204" pitchFamily="34" charset="0"/>
              </a:rPr>
              <a:t>O</a:t>
            </a:r>
            <a:r>
              <a:rPr lang="en-US" altLang="en-US" baseline="30000" dirty="0">
                <a:solidFill>
                  <a:srgbClr val="333399"/>
                </a:solidFill>
                <a:latin typeface="Calibri" panose="020F0502020204030204" pitchFamily="34" charset="0"/>
              </a:rPr>
              <a:t>+</a:t>
            </a:r>
            <a:r>
              <a:rPr lang="en-US" altLang="en-US" dirty="0">
                <a:solidFill>
                  <a:srgbClr val="333399"/>
                </a:solidFill>
                <a:latin typeface="Calibri" panose="020F0502020204030204" pitchFamily="34" charset="0"/>
              </a:rPr>
              <a:t>?</a:t>
            </a:r>
            <a:endParaRPr lang="en-US" altLang="en-US" dirty="0">
              <a:solidFill>
                <a:srgbClr val="333399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11">
            <a:extLst>
              <a:ext uri="{FF2B5EF4-FFF2-40B4-BE49-F238E27FC236}">
                <a16:creationId xmlns:a16="http://schemas.microsoft.com/office/drawing/2014/main" id="{19019443-F06F-B045-86B3-07562ABCD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962400"/>
            <a:ext cx="73914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Ion-ice reactions can enhance the production of complex organic molecules (COMs).</a:t>
            </a:r>
          </a:p>
          <a:p>
            <a:pPr indent="6350" eaLnBrk="1" hangingPunct="1">
              <a:spcBef>
                <a:spcPts val="1200"/>
              </a:spcBef>
              <a:buFontTx/>
              <a:buNone/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We can expect H</a:t>
            </a:r>
            <a:r>
              <a:rPr lang="en-US" altLang="en-US" sz="2200" baseline="-25000" dirty="0">
                <a:latin typeface="Calibri" panose="020F050202020403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O</a:t>
            </a:r>
            <a:r>
              <a:rPr lang="en-US" altLang="en-US" sz="2200" baseline="30000" dirty="0">
                <a:latin typeface="Calibri" panose="020F0502020204030204" pitchFamily="34" charset="0"/>
                <a:sym typeface="Symbol" panose="05050102010706020507" pitchFamily="18" charset="2"/>
              </a:rPr>
              <a:t>+</a:t>
            </a: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 to be present in interstellar/protostellar ices where HCO</a:t>
            </a:r>
            <a:r>
              <a:rPr lang="en-US" altLang="en-US" sz="2200" baseline="30000" dirty="0">
                <a:latin typeface="Calibri" panose="020F0502020204030204" pitchFamily="34" charset="0"/>
                <a:sym typeface="Symbol" panose="05050102010706020507" pitchFamily="18" charset="2"/>
              </a:rPr>
              <a:t>+</a:t>
            </a: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 and other protonated species are present in the gas phase.</a:t>
            </a:r>
            <a:endParaRPr lang="en-US" altLang="en-US" sz="2200" baseline="-25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902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F521C-46D4-C843-AD26-3E1FC1AA7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6C71BC85-141A-21BA-87BC-6ADE4D57D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en-US" dirty="0">
                <a:solidFill>
                  <a:srgbClr val="333399"/>
                </a:solidFill>
                <a:latin typeface="Calibri" panose="020F0502020204030204" pitchFamily="34" charset="0"/>
              </a:rPr>
              <a:t>Background: What is the fate of H</a:t>
            </a:r>
            <a:r>
              <a:rPr lang="en-US" altLang="en-US" baseline="-25000" dirty="0">
                <a:solidFill>
                  <a:srgbClr val="333399"/>
                </a:solidFill>
                <a:latin typeface="Calibri" panose="020F0502020204030204" pitchFamily="34" charset="0"/>
              </a:rPr>
              <a:t>3</a:t>
            </a:r>
            <a:r>
              <a:rPr lang="en-US" altLang="en-US" dirty="0">
                <a:solidFill>
                  <a:srgbClr val="333399"/>
                </a:solidFill>
                <a:latin typeface="Calibri" panose="020F0502020204030204" pitchFamily="34" charset="0"/>
              </a:rPr>
              <a:t>O</a:t>
            </a:r>
            <a:r>
              <a:rPr lang="en-US" altLang="en-US" baseline="30000" dirty="0">
                <a:solidFill>
                  <a:srgbClr val="333399"/>
                </a:solidFill>
                <a:latin typeface="Calibri" panose="020F0502020204030204" pitchFamily="34" charset="0"/>
              </a:rPr>
              <a:t>+</a:t>
            </a:r>
            <a:r>
              <a:rPr lang="en-US" altLang="en-US" dirty="0">
                <a:solidFill>
                  <a:srgbClr val="333399"/>
                </a:solidFill>
                <a:latin typeface="Calibri" panose="020F0502020204030204" pitchFamily="34" charset="0"/>
              </a:rPr>
              <a:t>?</a:t>
            </a:r>
            <a:endParaRPr lang="en-US" altLang="en-US" dirty="0">
              <a:solidFill>
                <a:srgbClr val="333399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AA6D65-2707-0130-896E-7226F0CF41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167" t="12442" r="13333" b="10876"/>
          <a:stretch/>
        </p:blipFill>
        <p:spPr>
          <a:xfrm>
            <a:off x="741784" y="914400"/>
            <a:ext cx="6116216" cy="525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EA9D0CB-2737-76CC-F847-B0FF06AB13DF}"/>
              </a:ext>
            </a:extLst>
          </p:cNvPr>
          <p:cNvSpPr/>
          <p:nvPr/>
        </p:nvSpPr>
        <p:spPr bwMode="auto">
          <a:xfrm>
            <a:off x="762000" y="3441357"/>
            <a:ext cx="2743200" cy="1234440"/>
          </a:xfrm>
          <a:prstGeom prst="rect">
            <a:avLst/>
          </a:prstGeom>
          <a:solidFill>
            <a:schemeClr val="accent1">
              <a:lumMod val="60000"/>
              <a:lumOff val="40000"/>
              <a:alpha val="24706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657600" algn="l"/>
              </a:tabLst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ZapfHumnst BT" pitchFamily="34" charset="0"/>
            </a:endParaRP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7A3829AE-ECB0-44B0-C4C8-5AB78D8C8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876800"/>
            <a:ext cx="7391400" cy="1295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ts val="1200"/>
              </a:spcBef>
              <a:buFontTx/>
              <a:buNone/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Cui &amp; Herbst (and others) assume that H</a:t>
            </a:r>
            <a:r>
              <a:rPr lang="en-US" altLang="en-US" sz="2200" baseline="-25000" dirty="0">
                <a:latin typeface="Calibri" panose="020F050202020403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O</a:t>
            </a:r>
            <a:r>
              <a:rPr lang="en-US" altLang="en-US" sz="2200" baseline="30000" dirty="0">
                <a:latin typeface="Calibri" panose="020F0502020204030204" pitchFamily="34" charset="0"/>
                <a:sym typeface="Symbol" panose="05050102010706020507" pitchFamily="18" charset="2"/>
              </a:rPr>
              <a:t>+</a:t>
            </a: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 in ice is destroyed by electron recombination. This assumption needs to be tested!</a:t>
            </a:r>
            <a:endParaRPr lang="en-US" altLang="en-US" sz="2200" baseline="-25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765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48346E9-E95B-04FC-9AB1-716A8E9B8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Procedure:H</a:t>
            </a:r>
            <a:r>
              <a:rPr lang="en-US" altLang="en-US" baseline="-25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asw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e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 </a:t>
            </a:r>
            <a:r>
              <a:rPr lang="en-US" altLang="en-US" sz="18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(and beyond)</a:t>
            </a: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480112DC-282F-98CC-1D71-E23B66958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7391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Preliminary calculations show that adding an electron to H</a:t>
            </a:r>
            <a:r>
              <a:rPr lang="en-US" altLang="en-US" sz="2200" baseline="-25000" dirty="0">
                <a:latin typeface="Calibri" panose="020F050202020403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O</a:t>
            </a:r>
            <a:r>
              <a:rPr lang="en-US" altLang="en-US" sz="2200" baseline="30000" dirty="0">
                <a:latin typeface="Calibri" panose="020F0502020204030204" pitchFamily="34" charset="0"/>
                <a:sym typeface="Symbol" panose="05050102010706020507" pitchFamily="18" charset="2"/>
              </a:rPr>
              <a:t>+</a:t>
            </a: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 in ice does not result in the destruction of H</a:t>
            </a:r>
            <a:r>
              <a:rPr lang="en-US" altLang="en-US" sz="2200" baseline="-25000" dirty="0">
                <a:latin typeface="Calibri" panose="020F050202020403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O</a:t>
            </a:r>
            <a:r>
              <a:rPr lang="en-US" altLang="en-US" sz="2200" baseline="30000" dirty="0">
                <a:latin typeface="Calibri" panose="020F0502020204030204" pitchFamily="34" charset="0"/>
                <a:sym typeface="Symbol" panose="05050102010706020507" pitchFamily="18" charset="2"/>
              </a:rPr>
              <a:t>+</a:t>
            </a: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.</a:t>
            </a:r>
          </a:p>
          <a:p>
            <a:pPr indent="6350" eaLnBrk="1" hangingPunct="1">
              <a:spcBef>
                <a:spcPts val="1800"/>
              </a:spcBef>
              <a:buFontTx/>
              <a:buNone/>
            </a:pPr>
            <a:r>
              <a:rPr lang="en-US" altLang="en-US" sz="2200" dirty="0">
                <a:latin typeface="Calibri" panose="020F0502020204030204" pitchFamily="34" charset="0"/>
              </a:rPr>
              <a:t>We will initially explore:</a:t>
            </a:r>
          </a:p>
          <a:p>
            <a:pPr marL="234950" indent="6350" eaLnBrk="1" hangingPunct="1">
              <a:spcBef>
                <a:spcPts val="600"/>
              </a:spcBef>
              <a:buFontTx/>
              <a:buNone/>
            </a:pPr>
            <a:r>
              <a:rPr lang="en-US" altLang="en-US" sz="2200" dirty="0">
                <a:latin typeface="Calibri" panose="020F0502020204030204" pitchFamily="34" charset="0"/>
              </a:rPr>
              <a:t>1. Adding e</a:t>
            </a:r>
            <a:r>
              <a:rPr lang="en-US" altLang="en-US" sz="2200" baseline="30000" dirty="0">
                <a:latin typeface="Calibri" panose="020F0502020204030204" pitchFamily="34" charset="0"/>
              </a:rPr>
              <a:t>–</a:t>
            </a:r>
            <a:r>
              <a:rPr lang="en-US" altLang="en-US" sz="2200" dirty="0">
                <a:latin typeface="Calibri" panose="020F0502020204030204" pitchFamily="34" charset="0"/>
              </a:rPr>
              <a:t> to </a:t>
            </a: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</a:rPr>
              <a:t>H</a:t>
            </a:r>
            <a:r>
              <a:rPr lang="en-US" altLang="en-US" sz="2200" baseline="-25000" dirty="0">
                <a:solidFill>
                  <a:srgbClr val="0070C0"/>
                </a:solidFill>
                <a:latin typeface="Calibri" panose="020F0502020204030204" pitchFamily="34" charset="0"/>
              </a:rPr>
              <a:t>3</a:t>
            </a: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</a:rPr>
              <a:t>O</a:t>
            </a:r>
            <a:r>
              <a:rPr lang="en-US" altLang="en-US" sz="2200" baseline="30000" dirty="0">
                <a:solidFill>
                  <a:srgbClr val="0070C0"/>
                </a:solidFill>
                <a:latin typeface="Calibri" panose="020F0502020204030204" pitchFamily="34" charset="0"/>
              </a:rPr>
              <a:t>+</a:t>
            </a: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</a:rPr>
              <a:t> – </a:t>
            </a:r>
            <a:r>
              <a:rPr lang="en-US" altLang="en-US" sz="2200" dirty="0" err="1">
                <a:solidFill>
                  <a:srgbClr val="0070C0"/>
                </a:solidFill>
                <a:latin typeface="Calibri" panose="020F0502020204030204" pitchFamily="34" charset="0"/>
              </a:rPr>
              <a:t>asw</a:t>
            </a:r>
            <a:r>
              <a:rPr lang="en-US" altLang="en-US" sz="2200" dirty="0">
                <a:latin typeface="Calibri" panose="020F0502020204030204" pitchFamily="34" charset="0"/>
              </a:rPr>
              <a:t>  (what happens?)</a:t>
            </a:r>
          </a:p>
          <a:p>
            <a:pPr marL="234950" indent="6350" eaLnBrk="1" hangingPunct="1">
              <a:spcBef>
                <a:spcPts val="600"/>
              </a:spcBef>
              <a:buFontTx/>
              <a:buNone/>
            </a:pPr>
            <a:r>
              <a:rPr lang="en-US" altLang="en-US" sz="2200" dirty="0">
                <a:latin typeface="Calibri" panose="020F0502020204030204" pitchFamily="34" charset="0"/>
              </a:rPr>
              <a:t>2. Adding e</a:t>
            </a:r>
            <a:r>
              <a:rPr lang="en-US" altLang="en-US" sz="2200" baseline="30000" dirty="0">
                <a:latin typeface="Calibri" panose="020F0502020204030204" pitchFamily="34" charset="0"/>
              </a:rPr>
              <a:t>–</a:t>
            </a:r>
            <a:r>
              <a:rPr lang="en-US" altLang="en-US" sz="2200" dirty="0">
                <a:latin typeface="Calibri" panose="020F0502020204030204" pitchFamily="34" charset="0"/>
              </a:rPr>
              <a:t> to </a:t>
            </a: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</a:rPr>
              <a:t>H</a:t>
            </a:r>
            <a:r>
              <a:rPr lang="en-US" altLang="en-US" sz="2200" baseline="-25000" dirty="0">
                <a:solidFill>
                  <a:srgbClr val="0070C0"/>
                </a:solidFill>
                <a:latin typeface="Calibri" panose="020F0502020204030204" pitchFamily="34" charset="0"/>
              </a:rPr>
              <a:t>3</a:t>
            </a: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</a:rPr>
              <a:t>O</a:t>
            </a:r>
            <a:r>
              <a:rPr lang="en-US" altLang="en-US" sz="2200" baseline="30000" dirty="0">
                <a:solidFill>
                  <a:srgbClr val="0070C0"/>
                </a:solidFill>
                <a:latin typeface="Calibri" panose="020F0502020204030204" pitchFamily="34" charset="0"/>
              </a:rPr>
              <a:t>+</a:t>
            </a: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</a:rPr>
              <a:t> – OH – </a:t>
            </a:r>
            <a:r>
              <a:rPr lang="en-US" altLang="en-US" sz="2200" dirty="0" err="1">
                <a:solidFill>
                  <a:srgbClr val="0070C0"/>
                </a:solidFill>
                <a:latin typeface="Calibri" panose="020F0502020204030204" pitchFamily="34" charset="0"/>
              </a:rPr>
              <a:t>asw</a:t>
            </a:r>
            <a:r>
              <a:rPr lang="en-US" altLang="en-US" sz="2200" dirty="0">
                <a:latin typeface="Calibri" panose="020F0502020204030204" pitchFamily="34" charset="0"/>
              </a:rPr>
              <a:t>  (different outcome?)</a:t>
            </a:r>
          </a:p>
          <a:p>
            <a:pPr marL="234950" indent="6350" eaLnBrk="1" hangingPunct="1">
              <a:spcBef>
                <a:spcPts val="600"/>
              </a:spcBef>
              <a:buFontTx/>
              <a:buNone/>
            </a:pPr>
            <a:r>
              <a:rPr lang="en-US" altLang="en-US" sz="2200" dirty="0">
                <a:latin typeface="Calibri" panose="020F0502020204030204" pitchFamily="34" charset="0"/>
              </a:rPr>
              <a:t>3. Adding e</a:t>
            </a:r>
            <a:r>
              <a:rPr lang="en-US" altLang="en-US" sz="2200" baseline="30000" dirty="0">
                <a:latin typeface="Calibri" panose="020F0502020204030204" pitchFamily="34" charset="0"/>
              </a:rPr>
              <a:t>–</a:t>
            </a:r>
            <a:r>
              <a:rPr lang="en-US" altLang="en-US" sz="2200" dirty="0">
                <a:latin typeface="Calibri" panose="020F0502020204030204" pitchFamily="34" charset="0"/>
              </a:rPr>
              <a:t> to </a:t>
            </a:r>
            <a:r>
              <a:rPr lang="en-US" altLang="en-US" sz="2200" dirty="0" err="1">
                <a:solidFill>
                  <a:srgbClr val="0070C0"/>
                </a:solidFill>
                <a:latin typeface="Calibri" panose="020F0502020204030204" pitchFamily="34" charset="0"/>
              </a:rPr>
              <a:t>asw</a:t>
            </a:r>
            <a:r>
              <a:rPr lang="en-US" altLang="en-US" sz="2200" dirty="0">
                <a:latin typeface="Calibri" panose="020F0502020204030204" pitchFamily="34" charset="0"/>
              </a:rPr>
              <a:t>  (baseline: solvated e</a:t>
            </a:r>
            <a:r>
              <a:rPr lang="en-US" altLang="en-US" sz="2200" baseline="30000" dirty="0">
                <a:latin typeface="Calibri" panose="020F0502020204030204" pitchFamily="34" charset="0"/>
              </a:rPr>
              <a:t> –</a:t>
            </a:r>
            <a:r>
              <a:rPr lang="en-US" altLang="en-US" sz="2200" dirty="0">
                <a:latin typeface="Calibri" panose="020F0502020204030204" pitchFamily="34" charset="0"/>
              </a:rPr>
              <a:t>)</a:t>
            </a:r>
          </a:p>
          <a:p>
            <a:pPr indent="6350" eaLnBrk="1" hangingPunct="1">
              <a:spcBef>
                <a:spcPts val="1800"/>
              </a:spcBef>
              <a:buFontTx/>
              <a:buNone/>
            </a:pPr>
            <a:r>
              <a:rPr lang="en-US" altLang="en-US" sz="2200" dirty="0">
                <a:latin typeface="Calibri" panose="020F0502020204030204" pitchFamily="34" charset="0"/>
              </a:rPr>
              <a:t>Later:</a:t>
            </a:r>
          </a:p>
          <a:p>
            <a:pPr marL="234950" indent="6350" eaLnBrk="1" hangingPunct="1">
              <a:spcBef>
                <a:spcPts val="600"/>
              </a:spcBef>
              <a:buFontTx/>
              <a:buNone/>
            </a:pPr>
            <a:r>
              <a:rPr lang="en-US" altLang="en-US" sz="2200" dirty="0">
                <a:latin typeface="Calibri" panose="020F0502020204030204" pitchFamily="34" charset="0"/>
              </a:rPr>
              <a:t>4. Adding e</a:t>
            </a:r>
            <a:r>
              <a:rPr lang="en-US" altLang="en-US" sz="2200" baseline="30000" dirty="0">
                <a:latin typeface="Calibri" panose="020F0502020204030204" pitchFamily="34" charset="0"/>
              </a:rPr>
              <a:t>–</a:t>
            </a:r>
            <a:r>
              <a:rPr lang="en-US" altLang="en-US" sz="2200" dirty="0">
                <a:latin typeface="Calibri" panose="020F0502020204030204" pitchFamily="34" charset="0"/>
              </a:rPr>
              <a:t> to </a:t>
            </a: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</a:rPr>
              <a:t>H</a:t>
            </a:r>
            <a:r>
              <a:rPr lang="en-US" altLang="en-US" sz="2200" baseline="-25000" dirty="0">
                <a:solidFill>
                  <a:srgbClr val="0070C0"/>
                </a:solidFill>
                <a:latin typeface="Calibri" panose="020F0502020204030204" pitchFamily="34" charset="0"/>
              </a:rPr>
              <a:t>3</a:t>
            </a: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</a:rPr>
              <a:t>O</a:t>
            </a:r>
            <a:r>
              <a:rPr lang="en-US" altLang="en-US" sz="2200" baseline="30000" dirty="0">
                <a:solidFill>
                  <a:srgbClr val="0070C0"/>
                </a:solidFill>
                <a:latin typeface="Calibri" panose="020F0502020204030204" pitchFamily="34" charset="0"/>
              </a:rPr>
              <a:t>+</a:t>
            </a: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</a:rPr>
              <a:t> – CN – </a:t>
            </a:r>
            <a:r>
              <a:rPr lang="en-US" altLang="en-US" sz="2200" dirty="0" err="1">
                <a:solidFill>
                  <a:srgbClr val="0070C0"/>
                </a:solidFill>
                <a:latin typeface="Calibri" panose="020F0502020204030204" pitchFamily="34" charset="0"/>
              </a:rPr>
              <a:t>asw</a:t>
            </a:r>
            <a:r>
              <a:rPr lang="en-US" altLang="en-US" sz="2200" dirty="0">
                <a:latin typeface="Calibri" panose="020F0502020204030204" pitchFamily="34" charset="0"/>
              </a:rPr>
              <a:t> (alternative anions)</a:t>
            </a:r>
          </a:p>
          <a:p>
            <a:pPr marL="234950" indent="6350" eaLnBrk="1" hangingPunct="1">
              <a:spcBef>
                <a:spcPts val="600"/>
              </a:spcBef>
              <a:buFontTx/>
              <a:buNone/>
            </a:pPr>
            <a:r>
              <a:rPr lang="en-US" altLang="en-US" sz="2200" dirty="0">
                <a:latin typeface="Calibri" panose="020F0502020204030204" pitchFamily="34" charset="0"/>
              </a:rPr>
              <a:t>5. Adding e</a:t>
            </a:r>
            <a:r>
              <a:rPr lang="en-US" altLang="en-US" sz="2200" baseline="30000" dirty="0">
                <a:latin typeface="Calibri" panose="020F0502020204030204" pitchFamily="34" charset="0"/>
              </a:rPr>
              <a:t>–</a:t>
            </a:r>
            <a:r>
              <a:rPr lang="en-US" altLang="en-US" sz="2200" dirty="0">
                <a:latin typeface="Calibri" panose="020F0502020204030204" pitchFamily="34" charset="0"/>
              </a:rPr>
              <a:t> to </a:t>
            </a: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</a:rPr>
              <a:t>NH</a:t>
            </a:r>
            <a:r>
              <a:rPr lang="en-US" altLang="en-US" sz="2200" baseline="-25000" dirty="0">
                <a:solidFill>
                  <a:srgbClr val="0070C0"/>
                </a:solidFill>
                <a:latin typeface="Calibri" panose="020F0502020204030204" pitchFamily="34" charset="0"/>
              </a:rPr>
              <a:t>4</a:t>
            </a:r>
            <a:r>
              <a:rPr lang="en-US" altLang="en-US" sz="2200" baseline="30000" dirty="0">
                <a:solidFill>
                  <a:srgbClr val="0070C0"/>
                </a:solidFill>
                <a:latin typeface="Calibri" panose="020F0502020204030204" pitchFamily="34" charset="0"/>
              </a:rPr>
              <a:t>+</a:t>
            </a: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</a:rPr>
              <a:t> – </a:t>
            </a:r>
            <a:r>
              <a:rPr lang="en-US" altLang="en-US" sz="2200" dirty="0" err="1">
                <a:solidFill>
                  <a:srgbClr val="0070C0"/>
                </a:solidFill>
                <a:latin typeface="Calibri" panose="020F0502020204030204" pitchFamily="34" charset="0"/>
              </a:rPr>
              <a:t>asw</a:t>
            </a:r>
            <a:r>
              <a:rPr lang="en-US" altLang="en-US" sz="2200" dirty="0">
                <a:latin typeface="Calibri" panose="020F0502020204030204" pitchFamily="34" charset="0"/>
              </a:rPr>
              <a:t>  (alternative cations)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2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432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48346E9-E95B-04FC-9AB1-716A8E9B8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Procedure:H</a:t>
            </a:r>
            <a:r>
              <a:rPr lang="en-US" altLang="en-US" baseline="-25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asw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e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 </a:t>
            </a:r>
            <a:r>
              <a:rPr lang="en-US" altLang="en-US" sz="18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(and beyond)</a:t>
            </a: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480112DC-282F-98CC-1D71-E23B66958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676400"/>
            <a:ext cx="739140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21w-hyd_1.zip    Collette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22w-hyd_1.zip    Alexandra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22w-hyd_2.zip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22w-hyd_3.zip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22w-hyd_4.zip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23w-hyd_1.zip    Anna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23w-hyd_2.zip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24w-hyd_1.zip    Michelle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25w-hyd_1.zip    Dave</a:t>
            </a: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D196D8F1-CAF3-5334-250A-CA593C86D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7391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You will find the following zip files on the Google drive: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2200" dirty="0">
              <a:latin typeface="Calibri" panose="020F0502020204030204" pitchFamily="34" charset="0"/>
            </a:endParaRPr>
          </a:p>
        </p:txBody>
      </p:sp>
      <p:sp>
        <p:nvSpPr>
          <p:cNvPr id="7" name="Text Box 11">
            <a:extLst>
              <a:ext uri="{FF2B5EF4-FFF2-40B4-BE49-F238E27FC236}">
                <a16:creationId xmlns:a16="http://schemas.microsoft.com/office/drawing/2014/main" id="{62C28186-A75B-D599-53B4-70F572193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4958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The unassigned examples can be done later to bolster our conclusions.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2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199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48346E9-E95B-04FC-9AB1-716A8E9B8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Procedure:H</a:t>
            </a:r>
            <a:r>
              <a:rPr lang="en-US" altLang="en-US" baseline="-25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asw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e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 </a:t>
            </a:r>
            <a:r>
              <a:rPr lang="en-US" altLang="en-US" sz="18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(and beyond)</a:t>
            </a: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480112DC-282F-98CC-1D71-E23B66958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676400"/>
            <a:ext cx="73914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03.hyd-25w_1A_freq.inp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03.hyd-25w_1A_freq.out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03.hyd-25w_1A_opt.inp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03.hyd-25w_1A_opt.xit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03.hyd-25w_1A.xyz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D196D8F1-CAF3-5334-250A-CA593C86D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7391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Here are the files from the 25w-hyd_1 archive: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2200" dirty="0">
              <a:latin typeface="Calibri" panose="020F0502020204030204" pitchFamily="34" charset="0"/>
            </a:endParaRPr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117F6799-C2CD-DEB7-0686-8038126A63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3528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Most of these are obvious. The </a:t>
            </a:r>
            <a:r>
              <a:rPr lang="en-US" altLang="en-US" sz="2200" dirty="0" err="1">
                <a:latin typeface="Calibri" panose="020F0502020204030204" pitchFamily="34" charset="0"/>
                <a:sym typeface="Symbol" panose="05050102010706020507" pitchFamily="18" charset="2"/>
              </a:rPr>
              <a:t>xit</a:t>
            </a: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 file shows all of the optimization steps from the initial to converged structures. 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2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139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48346E9-E95B-04FC-9AB1-716A8E9B8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Procedure:H</a:t>
            </a:r>
            <a:r>
              <a:rPr lang="en-US" altLang="en-US" baseline="-25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asw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e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 </a:t>
            </a:r>
            <a:r>
              <a:rPr lang="en-US" altLang="en-US" sz="18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(and beyond)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0CE4CD75-DCB4-79FC-8076-5D7D486AB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614" y="1085637"/>
            <a:ext cx="7772400" cy="4242799"/>
          </a:xfrm>
          <a:prstGeom prst="rect">
            <a:avLst/>
          </a:prstGeom>
        </p:spPr>
      </p:pic>
      <p:sp>
        <p:nvSpPr>
          <p:cNvPr id="8" name="Text Box 11">
            <a:extLst>
              <a:ext uri="{FF2B5EF4-FFF2-40B4-BE49-F238E27FC236}">
                <a16:creationId xmlns:a16="http://schemas.microsoft.com/office/drawing/2014/main" id="{C424F4C3-BD4B-6749-1A3C-647BB3DAD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5626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This run needed about 50 steps to converge. Ice cluster </a:t>
            </a:r>
            <a:r>
              <a:rPr lang="en-US" altLang="en-US" sz="2200" dirty="0" err="1">
                <a:latin typeface="Calibri" panose="020F0502020204030204" pitchFamily="34" charset="0"/>
                <a:sym typeface="Symbol" panose="05050102010706020507" pitchFamily="18" charset="2"/>
              </a:rPr>
              <a:t>opti-mizations</a:t>
            </a: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 often need ~100–400 steps to converge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2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539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48346E9-E95B-04FC-9AB1-716A8E9B8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Procedure:H</a:t>
            </a:r>
            <a:r>
              <a:rPr lang="en-US" altLang="en-US" baseline="-25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asw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e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 </a:t>
            </a:r>
            <a:r>
              <a:rPr lang="en-US" altLang="en-US" sz="18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(and beyond)</a:t>
            </a: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480112DC-282F-98CC-1D71-E23B66958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676400"/>
            <a:ext cx="73914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03.hyd-25w_1A_freq.inp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03.hyd-25w_1A_freq.out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03.hyd-25w_1A_opt.inp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03.hyd-25w_1A_opt.xit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03.hyd-25w_1A.xyz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D196D8F1-CAF3-5334-250A-CA593C86D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7391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Here are the files from the 25w-hyd_1 archive: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2200" dirty="0">
              <a:latin typeface="Calibri" panose="020F0502020204030204" pitchFamily="34" charset="0"/>
            </a:endParaRPr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117F6799-C2CD-DEB7-0686-8038126A63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3528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latin typeface="Calibri" panose="020F0502020204030204" pitchFamily="34" charset="0"/>
                <a:sym typeface="Symbol" panose="05050102010706020507" pitchFamily="18" charset="2"/>
              </a:rPr>
              <a:t>We need to start by refining the methodology I used for the prior calculations, including adding the extra diffuse s function on O atoms.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2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622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48346E9-E95B-04FC-9AB1-716A8E9B8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Procedure:H</a:t>
            </a:r>
            <a:r>
              <a:rPr lang="en-US" altLang="en-US" baseline="-25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asw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e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 </a:t>
            </a:r>
            <a:r>
              <a:rPr lang="en-US" altLang="en-US" sz="18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(and beyond)</a:t>
            </a: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480112DC-282F-98CC-1D71-E23B66958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73914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  <a:tabLst>
                <a:tab pos="688975" algn="l"/>
              </a:tabLst>
            </a:pPr>
            <a:r>
              <a:rPr lang="en-US" alt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 Refine your hydronium-water cluster: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688975" algn="l"/>
              </a:tabLst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o move H3O+ to end of atom list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688975" algn="l"/>
              </a:tabLst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o add new methodology option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688975" algn="l"/>
              </a:tabLst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o upgrade basis set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688975" algn="l"/>
              </a:tabLst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o opt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688975" algn="l"/>
              </a:tabLst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o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freq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– pool spectrum results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688975" algn="l"/>
              </a:tabLst>
            </a:pPr>
            <a:r>
              <a:rPr lang="en-US" alt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 Add e- to hydronium-water cluster: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688975" algn="l"/>
              </a:tabLst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o change charge and multiplicity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688975" algn="l"/>
              </a:tabLst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o opt - VEA from first step, what happens?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688975" algn="l"/>
              </a:tabLst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o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freq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688975" algn="l"/>
              </a:tabLst>
            </a:pPr>
            <a:r>
              <a:rPr lang="en-US" alt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 Introduce OH: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688975" algn="l"/>
              </a:tabLst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o remove H from H2O in nH2O-hyd cluster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688975" algn="l"/>
              </a:tabLst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o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opt+freq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OH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688975" algn="l"/>
              </a:tabLst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o add e- - VEA from first step, what happens?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688975" algn="l"/>
              </a:tabLst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(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opt+freq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688975" algn="l"/>
              </a:tabLst>
            </a:pPr>
            <a:r>
              <a:rPr lang="en-US" alt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4. Free electron EA: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688975" algn="l"/>
              </a:tabLst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o remove proton from initial nH2O-hyd cluster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688975" algn="l"/>
              </a:tabLst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o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opt+freq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(n+1)H2O cluster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688975" algn="l"/>
              </a:tabLst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o add e- - VEA from first step, what happens?</a:t>
            </a:r>
          </a:p>
          <a:p>
            <a:pPr indent="6350" eaLnBrk="1" hangingPunct="1">
              <a:spcBef>
                <a:spcPct val="0"/>
              </a:spcBef>
              <a:buFontTx/>
              <a:buNone/>
              <a:tabLst>
                <a:tab pos="688975" algn="l"/>
              </a:tabLst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(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opt+freq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61165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48346E9-E95B-04FC-9AB1-716A8E9B8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Procedure:H</a:t>
            </a:r>
            <a:r>
              <a:rPr lang="en-US" altLang="en-US" baseline="-25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asw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e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 </a:t>
            </a:r>
            <a:r>
              <a:rPr lang="en-US" altLang="en-US" sz="18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(and beyond)</a:t>
            </a: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D196D8F1-CAF3-5334-250A-CA593C86D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7391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First, find the H</a:t>
            </a:r>
            <a:r>
              <a:rPr lang="en-US" altLang="en-US" sz="2200" baseline="-250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O</a:t>
            </a:r>
            <a:r>
              <a:rPr lang="en-US" altLang="en-US" sz="2200" baseline="300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+</a:t>
            </a: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in your archive – view the </a:t>
            </a:r>
            <a:r>
              <a:rPr lang="en-US" altLang="en-US" sz="2200" dirty="0" err="1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xyz</a:t>
            </a: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file: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2200" dirty="0">
              <a:latin typeface="Calibri" panose="020F0502020204030204" pitchFamily="34" charset="0"/>
            </a:endParaRP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9036273E-8F7B-C5FA-6A25-1608B12FD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676400"/>
            <a:ext cx="7315200" cy="471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412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214AE88-6379-685C-E61D-B3B0FFFEFB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676400"/>
            <a:ext cx="7315200" cy="4717977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D48346E9-E95B-04FC-9AB1-716A8E9B8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Procedure:H</a:t>
            </a:r>
            <a:r>
              <a:rPr lang="en-US" altLang="en-US" baseline="-25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asw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e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 </a:t>
            </a:r>
            <a:r>
              <a:rPr lang="en-US" altLang="en-US" sz="18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(and beyond)</a:t>
            </a: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D196D8F1-CAF3-5334-250A-CA593C86D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7391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First, find the H</a:t>
            </a:r>
            <a:r>
              <a:rPr lang="en-US" altLang="en-US" sz="2200" baseline="-250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O</a:t>
            </a:r>
            <a:r>
              <a:rPr lang="en-US" altLang="en-US" sz="2200" baseline="300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+</a:t>
            </a: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in your archive – view the </a:t>
            </a:r>
            <a:r>
              <a:rPr lang="en-US" altLang="en-US" sz="2200" dirty="0" err="1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xyz</a:t>
            </a: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file: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2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081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48346E9-E95B-04FC-9AB1-716A8E9B8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Procedure:H</a:t>
            </a:r>
            <a:r>
              <a:rPr lang="en-US" altLang="en-US" baseline="-25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asw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e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 </a:t>
            </a:r>
            <a:r>
              <a:rPr lang="en-US" altLang="en-US" sz="18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(and beyond)</a:t>
            </a: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D196D8F1-CAF3-5334-250A-CA593C86D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7391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Create a new input opt file, e.g. 01.25w-hyd_1.inp – copy the one in the archive and then edit the new file.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2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753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48346E9-E95B-04FC-9AB1-716A8E9B8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Procedure:H</a:t>
            </a:r>
            <a:r>
              <a:rPr lang="en-US" altLang="en-US" baseline="-25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asw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e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 </a:t>
            </a:r>
            <a:r>
              <a:rPr lang="en-US" altLang="en-US" sz="18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(and beyond)</a:t>
            </a: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D196D8F1-CAF3-5334-250A-CA593C86D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7391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OLD VERSION – TOP: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2200" dirty="0">
              <a:latin typeface="Calibri" panose="020F0502020204030204" pitchFamily="34" charset="0"/>
            </a:endParaRP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B1F3CEED-7E2A-122F-FDD0-004455197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524000"/>
            <a:ext cx="73914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Rungauss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%mem=30mw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chk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nproc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=4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B3LYP/gen opt=(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tight,MaxCyc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=100) int=ultrafine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H3O+ + 25H2O (after ejecting NH2CHCO)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+1 1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O     0.928853    -0.390398     0.201312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H     0.412928    -0.942180     0.835530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H     1.836673    -0.375791     0.590889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O     3.299970    -0.354457     1.674587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H     4.125509    -0.192443     1.154596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H     3.192067     0.439075     2.242327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8559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48346E9-E95B-04FC-9AB1-716A8E9B8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Procedure:H</a:t>
            </a:r>
            <a:r>
              <a:rPr lang="en-US" altLang="en-US" baseline="-25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asw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e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 </a:t>
            </a:r>
            <a:r>
              <a:rPr lang="en-US" altLang="en-US" sz="18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(and beyond)</a:t>
            </a: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D196D8F1-CAF3-5334-250A-CA593C86D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7391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NEW VERSION – TOP (add option to opt line):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2200" dirty="0">
              <a:latin typeface="Calibri" panose="020F0502020204030204" pitchFamily="34" charset="0"/>
            </a:endParaRP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B1F3CEED-7E2A-122F-FDD0-004455197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524000"/>
            <a:ext cx="73914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Rungauss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%mem=30mw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chk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nproc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=4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B3LYP/gen opt=(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tight,MaxCyc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=100) int=ultrafine </a:t>
            </a:r>
            <a:r>
              <a:rPr lang="en-US" altLang="en-US" sz="18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EmpiricalDispersion</a:t>
            </a:r>
            <a:r>
              <a:rPr lang="en-US" altLang="en-US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=gd3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25w-hyd_1 (refined) B3LYP-D3/MVDZ+1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+1 1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O     0.928853    -0.390398     0.201312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H     0.412928    -0.942180     0.835530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H     1.836673    -0.375791     0.590889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O     3.299970    -0.354457     1.674587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H     4.125509    -0.192443     1.154596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H     3.192067     0.439075     2.242327</a:t>
            </a:r>
          </a:p>
        </p:txBody>
      </p:sp>
    </p:spTree>
    <p:extLst>
      <p:ext uri="{BB962C8B-B14F-4D97-AF65-F5344CB8AC3E}">
        <p14:creationId xmlns:p14="http://schemas.microsoft.com/office/powerpoint/2010/main" val="1405843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48346E9-E95B-04FC-9AB1-716A8E9B8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Procedure:H</a:t>
            </a:r>
            <a:r>
              <a:rPr lang="en-US" altLang="en-US" baseline="-25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asw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e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 </a:t>
            </a:r>
            <a:r>
              <a:rPr lang="en-US" altLang="en-US" sz="18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(and beyond)</a:t>
            </a: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D196D8F1-CAF3-5334-250A-CA593C86D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7391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OLD VERSION – BOTTOM: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2200" dirty="0">
              <a:latin typeface="Calibri" panose="020F0502020204030204" pitchFamily="34" charset="0"/>
            </a:endParaRP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B1F3CEED-7E2A-122F-FDD0-004455197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524000"/>
            <a:ext cx="73914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H    -2.357525     1.202719    -2.926847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H    -4.365925     1.290477    -1.851084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O    -4.229860     0.514209    -2.483858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H    -4.796152     0.672047    -3.250119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O    -1.354500    -3.629324    -2.452566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H    -0.483757    -3.178969    -2.263598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H    -1.166475    -4.458049    -2.909051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H    -2.121388    -4.431052     2.132272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pt-B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O 0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aug-cc-pvdz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****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H 0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cc-pvdz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****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5394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48346E9-E95B-04FC-9AB1-716A8E9B8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Procedure:H</a:t>
            </a:r>
            <a:r>
              <a:rPr lang="en-US" altLang="en-US" baseline="-25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asw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e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 </a:t>
            </a:r>
            <a:r>
              <a:rPr lang="en-US" altLang="en-US" sz="18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(and beyond)</a:t>
            </a: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D196D8F1-CAF3-5334-250A-CA593C86D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7391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NEW VERSION – BOTTOM (upgrade basis, move H3O+)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2200" dirty="0">
              <a:latin typeface="Calibri" panose="020F0502020204030204" pitchFamily="34" charset="0"/>
            </a:endParaRP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B1F3CEED-7E2A-122F-FDD0-004455197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524000"/>
            <a:ext cx="73914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O    -3.129461    -3.557377    -0.687840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H    -2.733491    -3.584123     0.262158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H    -3.742436    -2.759170    -0.805876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H    -2.390021    -3.600148    -1.417040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pt-B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O 0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aug-cc-pvdz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****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O 0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S   1 1.00       0.000000000000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0.2060000000D-01  0.1000000000D+01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****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H 0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cc-pvdz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pt-B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****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403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48346E9-E95B-04FC-9AB1-716A8E9B8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Procedure:H</a:t>
            </a:r>
            <a:r>
              <a:rPr lang="en-US" altLang="en-US" baseline="-25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asw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e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 </a:t>
            </a:r>
            <a:r>
              <a:rPr lang="en-US" altLang="en-US" sz="18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(and beyond)</a:t>
            </a: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D196D8F1-CAF3-5334-250A-CA593C86D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7391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Test that H</a:t>
            </a:r>
            <a:r>
              <a:rPr lang="en-US" altLang="en-US" sz="2200" baseline="-250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O</a:t>
            </a:r>
            <a:r>
              <a:rPr lang="en-US" altLang="en-US" sz="2200" baseline="300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+</a:t>
            </a: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is behaving correctly with </a:t>
            </a:r>
            <a:r>
              <a:rPr lang="en-US" altLang="en-US" sz="2200" cap="small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mull</a:t>
            </a: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app: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2200" dirty="0">
              <a:latin typeface="Calibri" panose="020F0502020204030204" pitchFamily="34" charset="0"/>
            </a:endParaRP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A6E6CFA4-A1FF-C647-808E-B3182BEF3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600200"/>
            <a:ext cx="73914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[e.g., copy and paste O+3H in temp.dat]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mull &lt; temp.dat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76  O   -0.258406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77  H    0.330823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78  H    0.305044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79  H    0.343205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NET    0.720666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[It looks like H3O+.]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8767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48346E9-E95B-04FC-9AB1-716A8E9B8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Procedure:H</a:t>
            </a:r>
            <a:r>
              <a:rPr lang="en-US" altLang="en-US" baseline="-25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asw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e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 </a:t>
            </a:r>
            <a:r>
              <a:rPr lang="en-US" altLang="en-US" sz="18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(and beyond)</a:t>
            </a: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480112DC-282F-98CC-1D71-E23B66958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73914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10DB6804-107A-4896-142C-71446479E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7391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Once you’re optimized the H</a:t>
            </a:r>
            <a:r>
              <a:rPr lang="en-US" altLang="en-US" sz="2200" baseline="-250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O</a:t>
            </a:r>
            <a:r>
              <a:rPr lang="en-US" altLang="en-US" sz="2200" baseline="300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+</a:t>
            </a: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-water cluster, it’s straight- forward to add an electron.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2200" dirty="0">
              <a:latin typeface="Calibri" panose="020F0502020204030204" pitchFamily="34" charset="0"/>
            </a:endParaRPr>
          </a:p>
        </p:txBody>
      </p:sp>
      <p:sp>
        <p:nvSpPr>
          <p:cNvPr id="5" name="Text Box 11">
            <a:extLst>
              <a:ext uri="{FF2B5EF4-FFF2-40B4-BE49-F238E27FC236}">
                <a16:creationId xmlns:a16="http://schemas.microsoft.com/office/drawing/2014/main" id="{E1288A22-300E-0F27-5F42-B00FB8D46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828800"/>
            <a:ext cx="73914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Rungauss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%mem=30mw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chk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nproc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=4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B3LYP/gen opt=(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tight,MaxCyc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=100) int=ultrafine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EmpiricalDispersion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=gd3 </a:t>
            </a:r>
            <a:r>
              <a:rPr lang="en-US" altLang="en-US" sz="18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guess=read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25w-hyd_1 + e- B3LYP-D3/MVDZ+1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0 2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O     0.928853    -0.390398     0.201312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H     0.412928    -0.942180     0.835530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H     1.836673    -0.375791     0.590889</a:t>
            </a: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FEC3844F-E684-2068-C9E1-0DFB1F457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638800"/>
            <a:ext cx="7391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The charge is now zero, and the multiplicity is a doublet.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2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3530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48346E9-E95B-04FC-9AB1-716A8E9B8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Procedure:H</a:t>
            </a:r>
            <a:r>
              <a:rPr lang="en-US" altLang="en-US" baseline="-25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asw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e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 </a:t>
            </a:r>
            <a:r>
              <a:rPr lang="en-US" altLang="en-US" sz="18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(and beyond)</a:t>
            </a: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480112DC-282F-98CC-1D71-E23B66958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739140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10DB6804-107A-4896-142C-71446479E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7391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If the </a:t>
            </a:r>
            <a:r>
              <a:rPr lang="en-US" altLang="en-US" sz="2200" cap="small" dirty="0" err="1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xit</a:t>
            </a: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and </a:t>
            </a:r>
            <a:r>
              <a:rPr lang="en-US" altLang="en-US" sz="2200" cap="small" dirty="0" err="1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phasit</a:t>
            </a: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apps are installed, you can use them to extract optimization step coordinates for any run and combine them into a total </a:t>
            </a:r>
            <a:r>
              <a:rPr lang="en-US" altLang="en-US" sz="2200" dirty="0" err="1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xit</a:t>
            </a: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file for the full optimization.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2200" dirty="0">
              <a:latin typeface="Calibri" panose="020F0502020204030204" pitchFamily="34" charset="0"/>
            </a:endParaRPr>
          </a:p>
        </p:txBody>
      </p:sp>
      <p:sp>
        <p:nvSpPr>
          <p:cNvPr id="7" name="Text Box 11">
            <a:extLst>
              <a:ext uri="{FF2B5EF4-FFF2-40B4-BE49-F238E27FC236}">
                <a16:creationId xmlns:a16="http://schemas.microsoft.com/office/drawing/2014/main" id="{80AAAF1C-6750-8D02-1830-365FCB70E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362200"/>
            <a:ext cx="73914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[e.g.]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xit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 01.25w-hyd_1_opt.out &gt;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temp.xyz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[or 01.25w-hyd_1_opt.xit1, etc. for multiple opt runs; then...]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cat 01.25w-hyd_1_opt.xit? | </a:t>
            </a: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phasit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&gt; 01.25w-hyd_1_opt.xit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172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48346E9-E95B-04FC-9AB1-716A8E9B8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Procedure:H</a:t>
            </a:r>
            <a:r>
              <a:rPr lang="en-US" altLang="en-US" baseline="-25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asw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e</a:t>
            </a:r>
            <a:r>
              <a:rPr lang="en-US" altLang="en-US" baseline="30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 </a:t>
            </a:r>
            <a:r>
              <a:rPr lang="en-US" altLang="en-US" sz="18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(and beyond)</a:t>
            </a: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480112DC-282F-98CC-1D71-E23B66958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739140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10DB6804-107A-4896-142C-71446479E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7391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6350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Good luck! – if you get stuck, ask me or Michelle for help!</a:t>
            </a:r>
          </a:p>
          <a:p>
            <a:pPr indent="6350" eaLnBrk="1" hangingPunct="1">
              <a:spcBef>
                <a:spcPct val="0"/>
              </a:spcBef>
              <a:buFontTx/>
              <a:buNone/>
            </a:pPr>
            <a:endParaRPr lang="en-US" altLang="en-US" sz="2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02345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rtlCol="0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>
            <a:tab pos="3657600" algn="l"/>
          </a:tabLst>
          <a:defRPr kumimoji="0" sz="24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ZapfHumnst BT" pitchFamily="34" charset="0"/>
          </a:defRPr>
        </a:defPPr>
      </a:lstStyle>
    </a:spDef>
    <a:lnDef>
      <a:spPr bwMode="auto">
        <a:noFill/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37525</TotalTime>
  <Words>2021</Words>
  <Application>Microsoft Office PowerPoint</Application>
  <PresentationFormat>On-screen Show (4:3)</PresentationFormat>
  <Paragraphs>239</Paragraphs>
  <Slides>27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Calibri</vt:lpstr>
      <vt:lpstr>Times New Roman</vt:lpstr>
      <vt:lpstr>Courier New</vt:lpstr>
      <vt:lpstr>ZapfHumnst BT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Molecular Research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E Woon</dc:creator>
  <cp:lastModifiedBy>Woon, David E</cp:lastModifiedBy>
  <cp:revision>5243</cp:revision>
  <cp:lastPrinted>2025-06-02T12:35:22Z</cp:lastPrinted>
  <dcterms:created xsi:type="dcterms:W3CDTF">2003-06-21T17:59:36Z</dcterms:created>
  <dcterms:modified xsi:type="dcterms:W3CDTF">2025-06-02T16:54:37Z</dcterms:modified>
</cp:coreProperties>
</file>